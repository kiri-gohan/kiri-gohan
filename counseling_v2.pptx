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93408"/>
            <a:ext cx="12188952" cy="164592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164592"/>
            <a:ext cx="502920" cy="6528816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4592"/>
            <a:ext cx="73152" cy="6528816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612880" y="164592"/>
            <a:ext cx="502920" cy="6528816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539728" y="164592"/>
            <a:ext cx="73152" cy="6528816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4572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4A4A4A"/>
                </a:solidFill>
              </a:rPr>
              <a:t>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32720" y="457200"/>
            <a:ext cx="10972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0" i="0">
                <a:solidFill>
                  <a:srgbClr val="4A4A4A"/>
                </a:solidFill>
              </a:rPr>
              <a:t>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50292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4A4A4A"/>
                </a:solidFill>
              </a:rPr>
              <a:t>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0" y="5029200"/>
            <a:ext cx="914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0" i="0">
                <a:solidFill>
                  <a:srgbClr val="4A4A4A"/>
                </a:solidFill>
              </a:rPr>
              <a:t>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645920" y="1645920"/>
            <a:ext cx="8869680" cy="2286000"/>
          </a:xfrm>
          <a:prstGeom prst="rect">
            <a:avLst/>
          </a:prstGeom>
          <a:solidFill>
            <a:srgbClr val="FFFFFF"/>
          </a:solidFill>
          <a:ln w="25400">
            <a:solidFill>
              <a:srgbClr val="D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828800" y="178308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5C3A2A"/>
                </a:solidFill>
              </a:rPr>
              <a:t>カウンセリングの本質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743200"/>
            <a:ext cx="6309360" cy="54864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828800" y="2834640"/>
            <a:ext cx="8503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47A8A"/>
                </a:solidFill>
              </a:rPr>
              <a:t>〜 答えを教えるのではなく、気づきを生む対話へ 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0" y="4114800"/>
            <a:ext cx="7589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8A7A72"/>
                </a:solidFill>
              </a:rPr>
              <a:t>ファスティング指導士養成講座  ／  カウンセリング講義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286000" y="4846320"/>
            <a:ext cx="7589520" cy="777240"/>
          </a:xfrm>
          <a:prstGeom prst="rect">
            <a:avLst/>
          </a:prstGeom>
          <a:solidFill>
            <a:srgbClr val="F7D9C4"/>
          </a:solidFill>
          <a:ln w="12700">
            <a:solidFill>
              <a:srgbClr val="D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68880" y="4919472"/>
            <a:ext cx="72237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C3A2A"/>
                </a:solidFill>
              </a:rPr>
              <a:t>💬  「悩みに気づかせる場が、最大の教育になる」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🌸  本日の講義内容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88720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731520" cy="12344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444752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4A4A"/>
                </a:solidFill>
              </a:rPr>
              <a:t>🔍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1188720"/>
            <a:ext cx="4846320" cy="502920"/>
          </a:xfrm>
          <a:prstGeom prst="rect">
            <a:avLst/>
          </a:prstGeom>
          <a:solidFill>
            <a:srgbClr val="F7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124358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A2A"/>
                </a:solidFill>
              </a:rPr>
              <a:t>01  カウンセリングとは？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1828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72"/>
                </a:solidFill>
              </a:rPr>
              <a:t>よくある誤解を解く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188720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188720"/>
            <a:ext cx="731520" cy="12344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44752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4A4A"/>
                </a:solidFill>
              </a:rPr>
              <a:t>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1188720"/>
            <a:ext cx="4846320" cy="502920"/>
          </a:xfrm>
          <a:prstGeom prst="rect">
            <a:avLst/>
          </a:prstGeom>
          <a:solidFill>
            <a:srgbClr val="F7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24358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A2A"/>
                </a:solidFill>
              </a:rPr>
              <a:t>02  カウンセリングの真の目的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18288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72"/>
                </a:solidFill>
              </a:rPr>
              <a:t>「気づき」を生む対話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2560320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2560320"/>
            <a:ext cx="731520" cy="12344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" y="2816352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4A4A"/>
                </a:solidFill>
              </a:rPr>
              <a:t>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2560320"/>
            <a:ext cx="4846320" cy="502920"/>
          </a:xfrm>
          <a:prstGeom prst="rect">
            <a:avLst/>
          </a:prstGeom>
          <a:solidFill>
            <a:srgbClr val="F7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261518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A2A"/>
                </a:solidFill>
              </a:rPr>
              <a:t>03  悩みの構造を理解する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34440" y="3200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72"/>
                </a:solidFill>
              </a:rPr>
              <a:t>なぜ一人では気づけないのか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2560320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2560320"/>
            <a:ext cx="731520" cy="12344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2816352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4A4A"/>
                </a:solidFill>
              </a:rPr>
              <a:t>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95160" y="2560320"/>
            <a:ext cx="4846320" cy="502920"/>
          </a:xfrm>
          <a:prstGeom prst="rect">
            <a:avLst/>
          </a:prstGeom>
          <a:solidFill>
            <a:srgbClr val="F7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32320" y="2615184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A2A"/>
                </a:solidFill>
              </a:rPr>
              <a:t>04  なりたい自分を見つける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32320" y="32004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72"/>
                </a:solidFill>
              </a:rPr>
              <a:t>目標設定のプロセス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3931920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3931920"/>
            <a:ext cx="731520" cy="12344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" y="4187952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4A4A"/>
                </a:solidFill>
              </a:rPr>
              <a:t>🌿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97280" y="3931920"/>
            <a:ext cx="4846320" cy="502920"/>
          </a:xfrm>
          <a:prstGeom prst="rect">
            <a:avLst/>
          </a:prstGeom>
          <a:solidFill>
            <a:srgbClr val="F7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4440" y="3986783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A2A"/>
                </a:solidFill>
              </a:rPr>
              <a:t>05  Have to → Want to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34440" y="4572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72"/>
                </a:solidFill>
              </a:rPr>
              <a:t>内発的な動機を引き出す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63640" y="3931920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63640" y="3931920"/>
            <a:ext cx="731520" cy="12344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4187952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4A4A"/>
                </a:solidFill>
              </a:rPr>
              <a:t>🤝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60" y="3931920"/>
            <a:ext cx="4846320" cy="502920"/>
          </a:xfrm>
          <a:prstGeom prst="rect">
            <a:avLst/>
          </a:prstGeom>
          <a:solidFill>
            <a:srgbClr val="F7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32320" y="3986783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A2A"/>
                </a:solidFill>
              </a:rPr>
              <a:t>06  一緒に叶える環境と知識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32320" y="45720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72"/>
                </a:solidFill>
              </a:rPr>
              <a:t>サポートの重要性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65760" y="5303520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5760" y="5303520"/>
            <a:ext cx="731520" cy="12344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11480" y="5559552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4A4A"/>
                </a:solidFill>
              </a:rPr>
              <a:t>📚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97280" y="5303520"/>
            <a:ext cx="4846320" cy="502920"/>
          </a:xfrm>
          <a:prstGeom prst="rect">
            <a:avLst/>
          </a:prstGeom>
          <a:solidFill>
            <a:srgbClr val="F7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234440" y="5358383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A2A"/>
                </a:solidFill>
              </a:rPr>
              <a:t>07  カウンセリングは最大の教育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234440" y="5943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72"/>
                </a:solidFill>
              </a:rPr>
              <a:t>気づかせる力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63640" y="5303520"/>
            <a:ext cx="557784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263640" y="5303520"/>
            <a:ext cx="731520" cy="12344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309360" y="5559552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4A4A4A"/>
                </a:solidFill>
              </a:rPr>
              <a:t>💬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95160" y="5303520"/>
            <a:ext cx="4846320" cy="502920"/>
          </a:xfrm>
          <a:prstGeom prst="rect">
            <a:avLst/>
          </a:prstGeom>
          <a:solidFill>
            <a:srgbClr val="F7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32320" y="5358383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A2A"/>
                </a:solidFill>
              </a:rPr>
              <a:t>08  実践：問いかけの技術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32320" y="5943600"/>
            <a:ext cx="4572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A7A72"/>
                </a:solidFill>
              </a:rPr>
              <a:t>聴く力・問う力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🔍  01｜カウンセリングとは？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530352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E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5303520" cy="640080"/>
          </a:xfrm>
          <a:prstGeom prst="rect">
            <a:avLst/>
          </a:prstGeom>
          <a:solidFill>
            <a:srgbClr val="E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0700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❌  よくある思い込み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920240"/>
            <a:ext cx="493776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E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201168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4A4A"/>
                </a:solidFill>
              </a:rPr>
              <a:t>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201168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4040"/>
                </a:solidFill>
              </a:rPr>
              <a:t>「全部
答えてあげなきゃ」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926080"/>
            <a:ext cx="493776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E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4360" y="301752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4A4A"/>
                </a:solidFill>
              </a:rPr>
              <a:t>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301752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4040"/>
                </a:solidFill>
              </a:rPr>
              <a:t>「全部
伝えてあげなきゃ」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931920"/>
            <a:ext cx="493776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E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2336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4A4A"/>
                </a:solidFill>
              </a:rPr>
              <a:t>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80160" y="402336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4040"/>
                </a:solidFill>
              </a:rPr>
              <a:t>「知識を教えることが
カウンセリング」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937760"/>
            <a:ext cx="4937760" cy="868680"/>
          </a:xfrm>
          <a:prstGeom prst="rect">
            <a:avLst/>
          </a:prstGeom>
          <a:solidFill>
            <a:srgbClr val="FFF0F0"/>
          </a:solidFill>
          <a:ln w="12700">
            <a:solidFill>
              <a:srgbClr val="E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4360" y="502920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4A4A"/>
                </a:solidFill>
              </a:rPr>
              <a:t>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80160" y="5029200"/>
            <a:ext cx="4023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A04040"/>
                </a:solidFill>
              </a:rPr>
              <a:t>「専門家が正解を
提供する場」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60720" y="3474720"/>
            <a:ext cx="822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D47A8A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92240" y="1143000"/>
            <a:ext cx="5303520" cy="5212080"/>
          </a:xfrm>
          <a:prstGeom prst="rect">
            <a:avLst/>
          </a:prstGeom>
          <a:solidFill>
            <a:srgbClr val="FFFFFF"/>
          </a:solidFill>
          <a:ln w="19050">
            <a:solidFill>
              <a:srgbClr val="D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92240" y="1143000"/>
            <a:ext cx="5303520" cy="64008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207008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</a:rPr>
              <a:t>✅  カウンセリングの本質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75120" y="1920240"/>
            <a:ext cx="4937760" cy="868680"/>
          </a:xfrm>
          <a:prstGeom prst="rect">
            <a:avLst/>
          </a:prstGeom>
          <a:solidFill>
            <a:srgbClr val="FFF5F0"/>
          </a:solidFill>
          <a:ln w="1270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201168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4A4A"/>
                </a:solidFill>
              </a:rPr>
              <a:t>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201168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A2A"/>
                </a:solidFill>
              </a:rPr>
              <a:t>「気づきを
生む場」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675120" y="2926080"/>
            <a:ext cx="4937760" cy="868680"/>
          </a:xfrm>
          <a:prstGeom prst="rect">
            <a:avLst/>
          </a:prstGeom>
          <a:solidFill>
            <a:srgbClr val="FFF5F0"/>
          </a:solidFill>
          <a:ln w="1270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20840" y="301752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4A4A"/>
                </a:solidFill>
              </a:rPr>
              <a:t>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01752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A2A"/>
                </a:solidFill>
              </a:rPr>
              <a:t>「なりたい自分を
見つける場」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75120" y="3931920"/>
            <a:ext cx="4937760" cy="868680"/>
          </a:xfrm>
          <a:prstGeom prst="rect">
            <a:avLst/>
          </a:prstGeom>
          <a:solidFill>
            <a:srgbClr val="FFF5F0"/>
          </a:solidFill>
          <a:ln w="1270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02336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4A4A"/>
                </a:solidFill>
              </a:rPr>
              <a:t>🔮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0233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A2A"/>
                </a:solidFill>
              </a:rPr>
              <a:t>「悩みの本質に
自分で気づく場」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675120" y="4937760"/>
            <a:ext cx="4937760" cy="868680"/>
          </a:xfrm>
          <a:prstGeom prst="rect">
            <a:avLst/>
          </a:prstGeom>
          <a:solidFill>
            <a:srgbClr val="FFF5F0"/>
          </a:solidFill>
          <a:ln w="1270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720840" y="5029200"/>
            <a:ext cx="640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4A4A"/>
                </a:solidFill>
              </a:rPr>
              <a:t>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02920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A2A"/>
                </a:solidFill>
              </a:rPr>
              <a:t>「最大の教育が
できる場」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💡  02｜カウンセリングの真の目的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97280"/>
            <a:ext cx="10698480" cy="914400"/>
          </a:xfrm>
          <a:prstGeom prst="rect">
            <a:avLst/>
          </a:prstGeom>
          <a:solidFill>
            <a:srgbClr val="F7D9C4"/>
          </a:solidFill>
          <a:ln w="19050">
            <a:solidFill>
              <a:srgbClr val="D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5C3A2A"/>
                </a:solidFill>
              </a:rPr>
              <a:t>「答えを教える場」ではなく
「自分に足りないものに気づかせる場」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286000"/>
            <a:ext cx="356616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286000"/>
            <a:ext cx="3566160" cy="82296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74519" y="23317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4A4A4A"/>
                </a:solidFill>
              </a:rPr>
              <a:t>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3108960"/>
            <a:ext cx="3566160" cy="64008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31546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気づきを生む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88620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</a:rPr>
              <a:t>クライアントが自分では見えていない
悩みの本質・原因に気づく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89120" y="2286000"/>
            <a:ext cx="356616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2286000"/>
            <a:ext cx="3566160" cy="82296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15000" y="23317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4A4A4A"/>
                </a:solidFill>
              </a:rPr>
              <a:t>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89120" y="3108960"/>
            <a:ext cx="3566160" cy="64008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0559" y="31546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なりたい自分を
見つける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388620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</a:rPr>
              <a:t>理想の未来像を明確にして
そこへ向かう意欲を引き出す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2286000"/>
            <a:ext cx="3566160" cy="42062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2286000"/>
            <a:ext cx="3566160" cy="82296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55480" y="2331720"/>
            <a:ext cx="822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0" i="0">
                <a:solidFill>
                  <a:srgbClr val="4A4A4A"/>
                </a:solidFill>
              </a:rPr>
              <a:t>🤝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3108960"/>
            <a:ext cx="3566160" cy="64008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3154680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行動への
橋渡し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886200"/>
            <a:ext cx="32918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4A4A4A"/>
                </a:solidFill>
              </a:rPr>
              <a:t>気づきを一人で抱えず
必要な環境・知識につなげる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0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🧊  03｜悩みの構造 ── なぜ一人では気づけないの？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120640" cy="539496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70432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B07A9E"/>
                </a:solidFill>
              </a:rPr>
              <a:t>🧊  氷山モデル：悩みの構造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691640"/>
            <a:ext cx="4754880" cy="914400"/>
          </a:xfrm>
          <a:prstGeom prst="rect">
            <a:avLst/>
          </a:prstGeom>
          <a:solidFill>
            <a:srgbClr val="F8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73736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A2A"/>
                </a:solidFill>
              </a:rPr>
              <a:t>🌊 水面上（見えている悩み）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2167128"/>
            <a:ext cx="4572000" cy="41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</a:rPr>
              <a:t>「体重が減らない」「続かない」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651760"/>
            <a:ext cx="4754880" cy="1188720"/>
          </a:xfrm>
          <a:prstGeom prst="rect">
            <a:avLst/>
          </a:prstGeom>
          <a:solidFill>
            <a:srgbClr val="E8A8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69748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A2A"/>
                </a:solidFill>
              </a:rPr>
              <a:t>💭 水面下（隠れた本音）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127248"/>
            <a:ext cx="4572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4A4A4A"/>
                </a:solidFill>
              </a:rPr>
              <a:t>「自己否定感」「孤独感」
「誰にも言えないストレス」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86200"/>
            <a:ext cx="4754880" cy="1645920"/>
          </a:xfrm>
          <a:prstGeom prst="rect">
            <a:avLst/>
          </a:prstGeom>
          <a:solidFill>
            <a:srgbClr val="B0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9319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🌀 深部（根本原因）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361688"/>
            <a:ext cx="45720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</a:rPr>
              <a:t>生活習慣の背景にある
ストレス・環境・
セルフイメージの問題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60720" y="1143000"/>
            <a:ext cx="6035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5C3A2A"/>
                </a:solidFill>
              </a:rPr>
              <a:t>一人では気づけない 3つの理由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691640"/>
            <a:ext cx="6126480" cy="4572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760720" y="1874519"/>
            <a:ext cx="6126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760720" y="1874519"/>
            <a:ext cx="6126480" cy="502920"/>
          </a:xfrm>
          <a:prstGeom prst="rect">
            <a:avLst/>
          </a:prstGeom>
          <a:solidFill>
            <a:srgbClr val="F7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806440" y="1938527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4A4A"/>
                </a:solidFill>
              </a:rPr>
              <a:t>👁️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19476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A2A"/>
                </a:solidFill>
              </a:rPr>
              <a:t>客観視が難しい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468879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自分の「当たり前」が問題だと
気づきにくい。魚は水が見えない。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60720" y="3447287"/>
            <a:ext cx="6126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760720" y="3447287"/>
            <a:ext cx="6126480" cy="502920"/>
          </a:xfrm>
          <a:prstGeom prst="rect">
            <a:avLst/>
          </a:prstGeom>
          <a:solidFill>
            <a:srgbClr val="F7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06440" y="3511295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4A4A"/>
                </a:solidFill>
              </a:rPr>
              <a:t>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46520" y="3520439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A2A"/>
                </a:solidFill>
              </a:rPr>
              <a:t>思い込みのフィルター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4041648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「どうせ無理」「自分はダメ」という
固定観念が本質を覆い隠す。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5020056"/>
            <a:ext cx="612648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5760720" y="5020056"/>
            <a:ext cx="6126480" cy="502920"/>
          </a:xfrm>
          <a:prstGeom prst="rect">
            <a:avLst/>
          </a:prstGeom>
          <a:solidFill>
            <a:srgbClr val="F7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806440" y="5084064"/>
            <a:ext cx="594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4A4A"/>
                </a:solidFill>
              </a:rPr>
              <a:t>🔄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5093208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C3A2A"/>
                </a:solidFill>
              </a:rPr>
              <a:t>同じ視点での堂々巡り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5614416"/>
            <a:ext cx="58521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同じ思考パターンで考え続けても
新しい気づきは生まれにくい。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0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💬  「気づき」が生まれる瞬間 ── 対話のリアル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7899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B07A9E"/>
                </a:solidFill>
              </a:rPr>
              <a:t>カウンセラーの問いかけが、クライアントの内側にある答えを引き出す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691640"/>
            <a:ext cx="11430000" cy="749808"/>
          </a:xfrm>
          <a:prstGeom prst="rect">
            <a:avLst/>
          </a:prstGeom>
          <a:solidFill>
            <a:srgbClr val="FDF0F0"/>
          </a:solidFill>
          <a:ln w="63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288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7A8A"/>
                </a:solidFill>
              </a:rPr>
              <a:t>【カウンセラー】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1720" y="1783080"/>
            <a:ext cx="9235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7A8A"/>
                </a:solidFill>
              </a:rPr>
              <a:t>「ファスティングで一番うまくいかないのは、どんなときですか？」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2487168"/>
            <a:ext cx="114300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243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7A72"/>
                </a:solidFill>
              </a:rPr>
              <a:t>【クライアント】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20" y="2578608"/>
            <a:ext cx="9235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72"/>
                </a:solidFill>
              </a:rPr>
              <a:t>「夜、仕事から帰ると… つい食べてしまうんです」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282696"/>
            <a:ext cx="11430000" cy="749808"/>
          </a:xfrm>
          <a:prstGeom prst="rect">
            <a:avLst/>
          </a:prstGeom>
          <a:solidFill>
            <a:srgbClr val="FDF0F0"/>
          </a:solidFill>
          <a:ln w="63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4198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7A8A"/>
                </a:solidFill>
              </a:rPr>
              <a:t>【カウンセラー】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331720" y="3374136"/>
            <a:ext cx="9235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7A8A"/>
                </a:solidFill>
              </a:rPr>
              <a:t>「そのとき、どんな気持ちになっていますか？」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4078224"/>
            <a:ext cx="114300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421538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7A72"/>
                </a:solidFill>
              </a:rPr>
              <a:t>【クライアント】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31720" y="4169663"/>
            <a:ext cx="9235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8A7A72"/>
                </a:solidFill>
              </a:rPr>
              <a:t>「疲れていて… 自分へのご褒美が欲しくなる感じがします」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4873752"/>
            <a:ext cx="11430000" cy="749808"/>
          </a:xfrm>
          <a:prstGeom prst="rect">
            <a:avLst/>
          </a:prstGeom>
          <a:solidFill>
            <a:srgbClr val="FDF0F0"/>
          </a:solidFill>
          <a:ln w="63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01091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D47A8A"/>
                </a:solidFill>
              </a:rPr>
              <a:t>【カウンセラー】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331720" y="4965192"/>
            <a:ext cx="9235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47A8A"/>
                </a:solidFill>
              </a:rPr>
              <a:t>「食べること以外に、何かご褒美があったら変わりそうですか？」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669279"/>
            <a:ext cx="11430000" cy="749808"/>
          </a:xfrm>
          <a:prstGeom prst="rect">
            <a:avLst/>
          </a:prstGeom>
          <a:solidFill>
            <a:srgbClr val="F7D9C4"/>
          </a:solidFill>
          <a:ln w="63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806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8A7A72"/>
                </a:solidFill>
              </a:rPr>
              <a:t>【クライアント】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31720" y="5760719"/>
            <a:ext cx="923544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7A9E"/>
                </a:solidFill>
              </a:rPr>
              <a:t>「……あ！ そっか。食べること以外で
自分を癒す方法、考えたことなかったです」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65196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C3A2A"/>
                </a:solidFill>
              </a:rPr>
              <a:t>💡  気づきは「教えられるもの」ではなく、問いかけによって自分の中から生まれるもの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🌱  04｜なりたい自分を見つける ── 目標設定の4ステップ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143000"/>
            <a:ext cx="278892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143000"/>
            <a:ext cx="2788920" cy="685800"/>
          </a:xfrm>
          <a:prstGeom prst="rect">
            <a:avLst/>
          </a:prstGeom>
          <a:solidFill>
            <a:srgbClr val="F5C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17043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3A2A"/>
                </a:solidFill>
              </a:rPr>
              <a:t>STEP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155448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4A4A4A"/>
                </a:solidFill>
              </a:rPr>
              <a:t>🗺️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28800"/>
            <a:ext cx="2788920" cy="54864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874519"/>
            <a:ext cx="2697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現在地を知る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8" y="2514600"/>
            <a:ext cx="257860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</a:rPr>
              <a:t>今、どんな状態？
何に困っている？
何を感じている？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44952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7A8A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143000"/>
            <a:ext cx="278892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37560" y="1143000"/>
            <a:ext cx="2788920" cy="685800"/>
          </a:xfrm>
          <a:prstGeom prst="rect">
            <a:avLst/>
          </a:prstGeom>
          <a:solidFill>
            <a:srgbClr val="F0D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383280" y="117043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3A2A"/>
                </a:solidFill>
              </a:rPr>
              <a:t>STEP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43400" y="155448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4A4A4A"/>
                </a:solidFill>
              </a:rPr>
              <a:t>💭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37560" y="1828800"/>
            <a:ext cx="2788920" cy="54864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874519"/>
            <a:ext cx="2697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痛みを掘り下げる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47288" y="2514600"/>
            <a:ext cx="257860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</a:rPr>
              <a:t>その悩みの奥にある
本当の感情は？
いつからそう感じてる？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71032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7A8A"/>
                </a:solidFill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63640" y="1143000"/>
            <a:ext cx="278892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263640" y="1143000"/>
            <a:ext cx="2788920" cy="685800"/>
          </a:xfrm>
          <a:prstGeom prst="rect">
            <a:avLst/>
          </a:prstGeom>
          <a:solidFill>
            <a:srgbClr val="D4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09360" y="117043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3A2A"/>
                </a:solidFill>
              </a:rPr>
              <a:t>STEP 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69480" y="155448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4A4A4A"/>
                </a:solidFill>
              </a:rPr>
              <a:t>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63640" y="1828800"/>
            <a:ext cx="2788920" cy="54864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09360" y="1874519"/>
            <a:ext cx="2697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理想を描く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73368" y="2514600"/>
            <a:ext cx="257860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</a:rPr>
              <a:t>どんな自分になりたい？
それが叶ったらどんな気持ち？
大切にしたい価値観は？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897112" y="34747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D47A8A"/>
                </a:solidFill>
              </a:rPr>
              <a:t>▶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89720" y="1143000"/>
            <a:ext cx="2788920" cy="5257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189720" y="1143000"/>
            <a:ext cx="2788920" cy="685800"/>
          </a:xfrm>
          <a:prstGeom prst="rect">
            <a:avLst/>
          </a:prstGeom>
          <a:solidFill>
            <a:srgbClr val="F7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35440" y="1170432"/>
            <a:ext cx="26974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5C3A2A"/>
                </a:solidFill>
              </a:rPr>
              <a:t>STEP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95560" y="1554480"/>
            <a:ext cx="777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4A4A4A"/>
                </a:solidFill>
              </a:rPr>
              <a:t>🔑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89720" y="1828800"/>
            <a:ext cx="2788920" cy="54864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235440" y="1874519"/>
            <a:ext cx="269748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</a:rPr>
              <a:t>ギャップを言語化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99448" y="2514600"/>
            <a:ext cx="2578608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</a:rPr>
              <a:t>現在地と理想の差は？
何があれば埋まる？
何が邪魔している？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11480" y="6464808"/>
            <a:ext cx="11338560" cy="329184"/>
          </a:xfrm>
          <a:prstGeom prst="rect">
            <a:avLst/>
          </a:prstGeom>
          <a:solidFill>
            <a:srgbClr val="F7D9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C3A2A"/>
                </a:solidFill>
              </a:rPr>
              <a:t>🌸  カウンセリングはクライアント自身が「なりたい自分」を言語化できるよう伴走するプロセス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0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🌿  05｜Have to → Want to ── 40代女性のあるあると変化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502920"/>
          </a:xfrm>
          <a:prstGeom prst="rect">
            <a:avLst/>
          </a:prstGeom>
          <a:solidFill>
            <a:srgbClr val="EED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B07A9E"/>
                </a:solidFill>
              </a:rPr>
              <a:t>── 40代になって、こんな気持ち、ありませんか？ ──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19072"/>
            <a:ext cx="35661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74519" y="176479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4A4A4A"/>
                </a:solidFill>
              </a:rPr>
              <a:t>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377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C3A2A"/>
                </a:solidFill>
              </a:rPr>
              <a:t>「また食べちゃった…
意志が弱い私ってダメだ」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719072"/>
            <a:ext cx="35661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0" y="176479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4A4A4A"/>
                </a:solidFill>
              </a:rPr>
              <a:t>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2377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C3A2A"/>
                </a:solidFill>
              </a:rPr>
              <a:t>「運動しなきゃとは
思ってるんだけど…」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719072"/>
            <a:ext cx="3566160" cy="123444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646920" y="1764792"/>
            <a:ext cx="7315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4A4A4A"/>
                </a:solidFill>
              </a:rPr>
              <a:t>😞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77440"/>
            <a:ext cx="32918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C3A2A"/>
                </a:solidFill>
              </a:rPr>
              <a:t>「わかってる、でも
できない、がずっと続いてる」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0632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8A7A72"/>
                </a:solidFill>
              </a:rPr>
              <a:t>↑ これが「Have to（〜しなければ）」思考のサイン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47872"/>
            <a:ext cx="11430000" cy="54864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675887"/>
            <a:ext cx="5349240" cy="457200"/>
          </a:xfrm>
          <a:prstGeom prst="rect">
            <a:avLst/>
          </a:prstGeom>
          <a:solidFill>
            <a:srgbClr val="E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3675887"/>
            <a:ext cx="5349240" cy="457200"/>
          </a:xfrm>
          <a:prstGeom prst="rect">
            <a:avLst/>
          </a:prstGeom>
          <a:solidFill>
            <a:srgbClr val="8FA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372160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❌  Have to（〜しなきゃ）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721608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✅  Want to（〜したい！）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60720" y="3730752"/>
            <a:ext cx="731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7A8A"/>
                </a:solidFill>
              </a:rP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4206240"/>
            <a:ext cx="5349240" cy="594360"/>
          </a:xfrm>
          <a:prstGeom prst="rect">
            <a:avLst/>
          </a:prstGeom>
          <a:solidFill>
            <a:srgbClr val="FFF0F0"/>
          </a:solidFill>
          <a:ln w="63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4206240"/>
            <a:ext cx="5349240" cy="594360"/>
          </a:xfrm>
          <a:prstGeom prst="rect">
            <a:avLst/>
          </a:prstGeom>
          <a:solidFill>
            <a:srgbClr val="F0F8F0"/>
          </a:solidFill>
          <a:ln w="63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297679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4040"/>
                </a:solidFill>
              </a:rPr>
              <a:t>「痩せなきゃいけない」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29400" y="4297679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FAD88"/>
                </a:solidFill>
              </a:rPr>
              <a:t>「娘の結婚式に、自信を持って立ちたい」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60720" y="431596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7A8A"/>
                </a:solidFill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846320"/>
            <a:ext cx="53492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492240" y="4846320"/>
            <a:ext cx="5349240" cy="594360"/>
          </a:xfrm>
          <a:prstGeom prst="rect">
            <a:avLst/>
          </a:prstGeom>
          <a:solidFill>
            <a:srgbClr val="FFF5F0"/>
          </a:solidFill>
          <a:ln w="63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4937759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4040"/>
                </a:solidFill>
              </a:rPr>
              <a:t>「食べるのを我慢しなきゃ」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4937759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FAD88"/>
                </a:solidFill>
              </a:rPr>
              <a:t>「体が軽い感覚を、また味わいたい」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760720" y="495604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7A8A"/>
                </a:solidFill>
              </a:rP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5486400"/>
            <a:ext cx="5349240" cy="594360"/>
          </a:xfrm>
          <a:prstGeom prst="rect">
            <a:avLst/>
          </a:prstGeom>
          <a:solidFill>
            <a:srgbClr val="FFF0F0"/>
          </a:solidFill>
          <a:ln w="63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92240" y="5486400"/>
            <a:ext cx="5349240" cy="594360"/>
          </a:xfrm>
          <a:prstGeom prst="rect">
            <a:avLst/>
          </a:prstGeom>
          <a:solidFill>
            <a:srgbClr val="F0F8F0"/>
          </a:solidFill>
          <a:ln w="63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2920" y="557784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04040"/>
                </a:solidFill>
              </a:rPr>
              <a:t>「運動しなきゃ」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29400" y="5577840"/>
            <a:ext cx="5074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8FAD88"/>
                </a:solidFill>
              </a:rPr>
              <a:t>「50代も元気でいたい。孫と走り回りたい」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760720" y="5596128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7A8A"/>
                </a:solidFill>
              </a:rPr>
              <a:t>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8FAD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🌿  「Want to」を引き出す ── カウンセリングの実例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698480" cy="731520"/>
          </a:xfrm>
          <a:prstGeom prst="rect">
            <a:avLst/>
          </a:prstGeom>
          <a:solidFill>
            <a:srgbClr val="F7D9C4"/>
          </a:solidFill>
          <a:ln w="19050">
            <a:solidFill>
              <a:srgbClr val="D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24712"/>
            <a:ext cx="10332720" cy="6675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C3A2A"/>
                </a:solidFill>
              </a:rPr>
              <a:t>困っている人の「本当に叶えたいこと」を一緒に言語化するのが、カウンセリングの出発点 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20240"/>
            <a:ext cx="356616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920240"/>
            <a:ext cx="3566160" cy="713232"/>
          </a:xfrm>
          <a:prstGeom prst="rect">
            <a:avLst/>
          </a:prstGeom>
          <a:solidFill>
            <a:srgbClr val="F5C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965960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4A4A4A"/>
                </a:solidFill>
              </a:rPr>
              <a:t>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61872" y="1984248"/>
            <a:ext cx="2633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A2A"/>
                </a:solidFill>
              </a:rPr>
              <a:t>STEP 1
表面の悩みを聴く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743200"/>
            <a:ext cx="33101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</a:rPr>
              <a:t>「体重が落ちない、
ずっとリバウンドしている」
→ 否定せず、まずそのまま受け取る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04487" y="40233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47A8A"/>
                </a:solidFill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43400" y="1920240"/>
            <a:ext cx="356616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1920240"/>
            <a:ext cx="3566160" cy="713232"/>
          </a:xfrm>
          <a:prstGeom prst="rect">
            <a:avLst/>
          </a:prstGeom>
          <a:solidFill>
            <a:srgbClr val="E8D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0560" y="1965960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4A4A4A"/>
                </a:solidFill>
              </a:rP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72" y="1984248"/>
            <a:ext cx="2633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A2A"/>
                </a:solidFill>
              </a:rPr>
              <a:t>STEP 2
本当の気持ちを掘り下げる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743200"/>
            <a:ext cx="33101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</a:rPr>
              <a:t>「どうして痩せたいんですか？」
「叶ったらどんな気持ちに？」
→「娘の成人式で一緒に
写真を撮りたい」という言葉が出てきた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90688" y="4023360"/>
            <a:ext cx="411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D47A8A"/>
                </a:solidFill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920240"/>
            <a:ext cx="3566160" cy="452628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29600" y="1920240"/>
            <a:ext cx="3566160" cy="713232"/>
          </a:xfrm>
          <a:prstGeom prst="rect">
            <a:avLst/>
          </a:prstGeom>
          <a:solidFill>
            <a:srgbClr val="D0EC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66760" y="1965960"/>
            <a:ext cx="6400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4A4A4A"/>
                </a:solidFill>
              </a:rPr>
              <a:t>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34272" y="1984248"/>
            <a:ext cx="2633472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C3A2A"/>
                </a:solidFill>
              </a:rPr>
              <a:t>STEP 3
Want to が生まれる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743200"/>
            <a:ext cx="3310128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4A4A4A"/>
                </a:solidFill>
              </a:rPr>
              <a:t>「痩せなきゃ」が
「娘との写真のために
体を整えたい！」に変わる
→ 行動の源泉が「義務」から
「愛情と喜び」へ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6492240"/>
            <a:ext cx="11247120" cy="292608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6519672"/>
            <a:ext cx="10972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「痩せたい」は入口。カウンセラーはその奥にある Want to を一緒に見つける人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🤝  06｜一人ではできない ── 必要な環境と知識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078992"/>
            <a:ext cx="10698480" cy="914400"/>
          </a:xfrm>
          <a:prstGeom prst="rect">
            <a:avLst/>
          </a:prstGeom>
          <a:solidFill>
            <a:srgbClr val="F7D9C4"/>
          </a:solidFill>
          <a:ln w="19050">
            <a:solidFill>
              <a:srgbClr val="D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15568"/>
            <a:ext cx="103327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5C3A2A"/>
                </a:solidFill>
              </a:rPr>
              <a:t>気づきは一歩目。
「変わる」ためには、適切な環境・知識・伴走者のサポートが必要 🌸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148840"/>
            <a:ext cx="356616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48840"/>
            <a:ext cx="3566160" cy="7772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0" y="219456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4A4A4A"/>
                </a:solidFill>
              </a:rPr>
              <a:t>🌿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926080"/>
            <a:ext cx="3566160" cy="50292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96265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環境づくり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53872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✦  仲間・コミュニティの存在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2336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✦  記録できる仕組み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928616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✦  定期的な振り返りの場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6235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✦  家族や周囲の理解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343400" y="2148840"/>
            <a:ext cx="356616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43400" y="2148840"/>
            <a:ext cx="3566160" cy="7772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219456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4A4A4A"/>
                </a:solidFill>
              </a:rPr>
              <a:t>📚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343400" y="2926080"/>
            <a:ext cx="3566160" cy="50292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296265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知識のサポート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53872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✦  ファスティングの正しい方法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42336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✦  体の仕組みと食の関係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4928616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✦  リバウンドを防ぐ考え方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56235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✦  メンタルと食欲の関連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2148840"/>
            <a:ext cx="3566160" cy="4297680"/>
          </a:xfrm>
          <a:prstGeom prst="rect">
            <a:avLst/>
          </a:prstGeom>
          <a:solidFill>
            <a:srgbClr val="FFFFFF"/>
          </a:solidFill>
          <a:ln w="1905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229600" y="2148840"/>
            <a:ext cx="3566160" cy="7772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601200" y="2194560"/>
            <a:ext cx="777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4A4A4A"/>
                </a:solidFill>
              </a:rPr>
              <a:t>💗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0" y="2926080"/>
            <a:ext cx="3566160" cy="50292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21040" y="2962656"/>
            <a:ext cx="33832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伴走するカウンセラー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412480" y="3538728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✦  定期的な対話と確認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4233672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✦  モチベーションの維持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4928616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✦  躓いたときの軌道修正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5623560"/>
            <a:ext cx="3246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✦  次の目標の設定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D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B0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📚  07｜カウンセリングは「最大の教育の場」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0B0B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594360"/>
          </a:xfrm>
          <a:prstGeom prst="rect">
            <a:avLst/>
          </a:prstGeom>
          <a:solidFill>
            <a:srgbClr val="D0B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一般的な「教える」教育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4A4A"/>
                </a:solidFill>
              </a:rPr>
              <a:t>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920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知識を一方向に伝える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24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4A4A"/>
                </a:solidFill>
              </a:rPr>
              <a:t>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272491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「正解」を外から与える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352958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4A4A"/>
                </a:solidFill>
              </a:rPr>
              <a:t>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352958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受け手が受動的になりやすい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3342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4A4A"/>
                </a:solidFill>
              </a:rPr>
              <a:t>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33425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「わかった」だけで終わりがち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138927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4A4A"/>
                </a:solidFill>
              </a:rPr>
              <a:t>🚶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5138927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A4A4A"/>
                </a:solidFill>
              </a:rPr>
              <a:t>行動変容につながりにくい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1097280"/>
            <a:ext cx="530352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92240" y="1097280"/>
            <a:ext cx="5303520" cy="59436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29400" y="1143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カウンセリングによる教育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1920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4A4A"/>
                </a:solidFill>
              </a:rPr>
              <a:t>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78040" y="1920240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7A8A"/>
                </a:solidFill>
              </a:rPr>
              <a:t>問いかけで自ら考えさせる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2724912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4A4A"/>
                </a:solidFill>
              </a:rPr>
              <a:t>💡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78040" y="2724912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7A8A"/>
                </a:solidFill>
              </a:rPr>
              <a:t>自分の中から「答え」が出てくる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529584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4A4A"/>
                </a:solidFill>
              </a:rPr>
              <a:t>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3529584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7A8A"/>
                </a:solidFill>
              </a:rPr>
              <a:t>当事者意識・主体性が生まれる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334256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4A4A"/>
                </a:solidFill>
              </a:rPr>
              <a:t>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78040" y="4334256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7A8A"/>
                </a:solidFill>
              </a:rPr>
              <a:t>「気づき」は深く記憶に残る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5138927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4A4A4A"/>
                </a:solidFill>
              </a:rPr>
              <a:t>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5138927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7A8A"/>
                </a:solidFill>
              </a:rPr>
              <a:t>行動変容に直結する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33288" y="3474720"/>
            <a:ext cx="713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A7A72"/>
                </a:solidFill>
              </a:rPr>
              <a:t>VS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5760" y="6473952"/>
            <a:ext cx="11430000" cy="320040"/>
          </a:xfrm>
          <a:prstGeom prst="rect">
            <a:avLst/>
          </a:prstGeom>
          <a:solidFill>
            <a:srgbClr val="B07A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649224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「知識を教えてもらった」より「自分で気づいた」ことのほうが、人は動く 💗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💬  08｜問いかけの技術 ── 聴く力・問う力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530352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E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097280"/>
            <a:ext cx="5303520" cy="594360"/>
          </a:xfrm>
          <a:prstGeom prst="rect">
            <a:avLst/>
          </a:prstGeom>
          <a:solidFill>
            <a:srgbClr val="E0A0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143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❌  避けたい問いかけ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029200" cy="1005840"/>
          </a:xfrm>
          <a:prstGeom prst="rect">
            <a:avLst/>
          </a:prstGeom>
          <a:solidFill>
            <a:srgbClr val="FFF0F0"/>
          </a:solidFill>
          <a:ln w="10160">
            <a:solidFill>
              <a:srgbClr val="E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901952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4040"/>
                </a:solidFill>
              </a:rPr>
              <a:t>「ちゃんと食事制限しましたか？」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37744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72"/>
                </a:solidFill>
              </a:rPr>
              <a:t>→ 詰問。相手が萎縮する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907791"/>
            <a:ext cx="5029200" cy="1005840"/>
          </a:xfrm>
          <a:prstGeom prst="rect">
            <a:avLst/>
          </a:prstGeom>
          <a:solidFill>
            <a:srgbClr val="FFF0F0"/>
          </a:solidFill>
          <a:ln w="10160">
            <a:solidFill>
              <a:srgbClr val="E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980944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4040"/>
                </a:solidFill>
              </a:rPr>
              <a:t>「それはこうすればいいですよ」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5643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72"/>
                </a:solidFill>
              </a:rPr>
              <a:t>→ 答えを与えすぎ。主体性が消える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3986783"/>
            <a:ext cx="5029200" cy="1005840"/>
          </a:xfrm>
          <a:prstGeom prst="rect">
            <a:avLst/>
          </a:prstGeom>
          <a:solidFill>
            <a:srgbClr val="FFF0F0"/>
          </a:solidFill>
          <a:ln w="10160">
            <a:solidFill>
              <a:srgbClr val="E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9935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4040"/>
                </a:solidFill>
              </a:rPr>
              <a:t>「なんでできないんですか？」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535423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72"/>
                </a:solidFill>
              </a:rPr>
              <a:t>→ 責める印象。信頼関係が壊れる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5065776"/>
            <a:ext cx="5029200" cy="1005840"/>
          </a:xfrm>
          <a:prstGeom prst="rect">
            <a:avLst/>
          </a:prstGeom>
          <a:solidFill>
            <a:srgbClr val="FFF0F0"/>
          </a:solidFill>
          <a:ln w="10160">
            <a:solidFill>
              <a:srgbClr val="E0A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5138928"/>
            <a:ext cx="47548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04040"/>
                </a:solidFill>
              </a:rPr>
              <a:t>「〇〇すべきですよね」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61441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72"/>
                </a:solidFill>
              </a:rPr>
              <a:t>→ 押しつけ。反発を生みやすい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92240" y="1097280"/>
            <a:ext cx="5303520" cy="5303520"/>
          </a:xfrm>
          <a:prstGeom prst="rect">
            <a:avLst/>
          </a:prstGeom>
          <a:solidFill>
            <a:srgbClr val="FFFFFF"/>
          </a:solidFill>
          <a:ln w="19050">
            <a:solidFill>
              <a:srgbClr val="D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1097280"/>
            <a:ext cx="5303520" cy="59436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629400" y="11430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</a:rPr>
              <a:t>✅  効果的な問いかけ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29400" y="1828800"/>
            <a:ext cx="5029200" cy="1005840"/>
          </a:xfrm>
          <a:prstGeom prst="rect">
            <a:avLst/>
          </a:prstGeom>
          <a:solidFill>
            <a:srgbClr val="FFF5F0"/>
          </a:solidFill>
          <a:ln w="1016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1901952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A8A"/>
                </a:solidFill>
              </a:rPr>
              <a:t>「今、どんなことを感じていますか？」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66560" y="2423160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72"/>
                </a:solidFill>
              </a:rPr>
              <a:t>→ 感情に寄り添うオープン質問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29400" y="2907791"/>
            <a:ext cx="5029200" cy="1005840"/>
          </a:xfrm>
          <a:prstGeom prst="rect">
            <a:avLst/>
          </a:prstGeom>
          <a:solidFill>
            <a:srgbClr val="FFF5F0"/>
          </a:solidFill>
          <a:ln w="1016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66560" y="2980944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A8A"/>
                </a:solidFill>
              </a:rPr>
              <a:t>「うまくいったとしたら
どんな違いがありますか？」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3502151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72"/>
                </a:solidFill>
              </a:rPr>
              <a:t>→ 理想の未来を描かせる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629400" y="3986783"/>
            <a:ext cx="5029200" cy="1005840"/>
          </a:xfrm>
          <a:prstGeom prst="rect">
            <a:avLst/>
          </a:prstGeom>
          <a:solidFill>
            <a:srgbClr val="FFF5F0"/>
          </a:solidFill>
          <a:ln w="1016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66560" y="4059935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A8A"/>
                </a:solidFill>
              </a:rPr>
              <a:t>「それをやってみてどうでしたか？」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66560" y="4581144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72"/>
                </a:solidFill>
              </a:rPr>
              <a:t>→ 体験を通じた気づきを促す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29400" y="5065776"/>
            <a:ext cx="5029200" cy="1005840"/>
          </a:xfrm>
          <a:prstGeom prst="rect">
            <a:avLst/>
          </a:prstGeom>
          <a:solidFill>
            <a:srgbClr val="FFF5F0"/>
          </a:solidFill>
          <a:ln w="1016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66560" y="5138928"/>
            <a:ext cx="47548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7A8A"/>
                </a:solidFill>
              </a:rPr>
              <a:t>「一番大切にしたいことは何ですか？」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660136"/>
            <a:ext cx="4754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A7A72"/>
                </a:solidFill>
              </a:rPr>
              <a:t>→ 価値観に触れる深い問い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733288" y="3474720"/>
            <a:ext cx="7132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8A7A72"/>
                </a:solidFill>
              </a:rPr>
              <a:t>VS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8288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75120"/>
            <a:ext cx="12188952" cy="18288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0" y="320040"/>
            <a:ext cx="914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0" i="0">
                <a:solidFill>
                  <a:srgbClr val="4A4A4A"/>
                </a:solidFill>
              </a:rPr>
              <a:t>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18872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5C3A2A"/>
                </a:solidFill>
              </a:rPr>
              <a:t>資格を取ったあなたへ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2103120"/>
            <a:ext cx="6675120" cy="73152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2286000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47A8A"/>
                </a:solidFill>
              </a:rPr>
              <a:t>「全部答えてあげなきゃ」と思わなくていい。 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999232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D47A8A"/>
                </a:solidFill>
              </a:rPr>
              <a:t>「全部伝えてあげなきゃ」と思わなくていい。 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12464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C3A2A"/>
                </a:solidFill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425696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5C3A2A"/>
                </a:solidFill>
              </a:rPr>
              <a:t>あなたの役割は、答えを渡すことではなく、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138928"/>
            <a:ext cx="106984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 i="0">
                <a:solidFill>
                  <a:srgbClr val="5C3A2A"/>
                </a:solidFill>
              </a:rPr>
              <a:t>クライアントが自分の答えに気づく手助けをすること。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371600" y="5760720"/>
            <a:ext cx="9418320" cy="868680"/>
          </a:xfrm>
          <a:prstGeom prst="rect">
            <a:avLst/>
          </a:prstGeom>
          <a:solidFill>
            <a:srgbClr val="F7D9C4"/>
          </a:solidFill>
          <a:ln w="25400">
            <a:solidFill>
              <a:srgbClr val="D47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5788152"/>
            <a:ext cx="9052560" cy="804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5C3A2A"/>
                </a:solidFill>
              </a:rPr>
              <a:t>💗  悩みに気づかせる場をつくれるカウンセラーが、
最大の教育者になれる。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"/>
            <a:ext cx="112471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</a:rPr>
              <a:t>🌸  まとめ ── カウンセリングの本質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143000"/>
            <a:ext cx="11430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43000"/>
            <a:ext cx="685800" cy="10058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344168"/>
            <a:ext cx="658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4A4A"/>
                </a:solidFill>
              </a:rPr>
              <a:t>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4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A2A"/>
                </a:solidFill>
              </a:rPr>
              <a:t>答えを教える場ではない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67335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自分に足りないものに気づかせる、「気づきの場」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240280"/>
            <a:ext cx="11430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" y="2240280"/>
            <a:ext cx="685800" cy="10058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" y="2441448"/>
            <a:ext cx="658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4A4A"/>
                </a:solidFill>
              </a:rPr>
              <a:t>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233172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A2A"/>
                </a:solidFill>
              </a:rPr>
              <a:t>「なりたい自分」を見つけるプロセスを支える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277063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クライアントが自分の言葉で理想を語れるよう伴走する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37560"/>
            <a:ext cx="11430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65760" y="3337560"/>
            <a:ext cx="685800" cy="10058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3538728"/>
            <a:ext cx="658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4A4A"/>
                </a:solidFill>
              </a:rPr>
              <a:t>🌿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429000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A2A"/>
                </a:solidFill>
              </a:rPr>
              <a:t>Have to → Want to への転換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867911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内側から湧く動機が、行動を長続きさせる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4434840"/>
            <a:ext cx="11430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60" y="4434840"/>
            <a:ext cx="685800" cy="10058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84048" y="4636007"/>
            <a:ext cx="658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4A4A"/>
                </a:solidFill>
              </a:rPr>
              <a:t>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43000" y="4526279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A2A"/>
                </a:solidFill>
              </a:rPr>
              <a:t>一人では変われない、だから一緒に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96519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気づきの後には、環境・知識・伴走者が必要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" y="5532120"/>
            <a:ext cx="114300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C4C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65760" y="5532120"/>
            <a:ext cx="685800" cy="1005840"/>
          </a:xfrm>
          <a:prstGeom prst="rect">
            <a:avLst/>
          </a:prstGeom>
          <a:solidFill>
            <a:srgbClr val="F2C4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5733288"/>
            <a:ext cx="65836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0" i="0">
                <a:solidFill>
                  <a:srgbClr val="4A4A4A"/>
                </a:solidFill>
              </a:rPr>
              <a:t>💗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" y="5623559"/>
            <a:ext cx="104241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5C3A2A"/>
                </a:solidFill>
              </a:rPr>
              <a:t>カウンセリングは最大の教育の場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6062472"/>
            <a:ext cx="10424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4A4A"/>
                </a:solidFill>
              </a:rPr>
              <a:t>「自分で気づいた」ことは深く記憶に残り、行動変容に直結する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6492240"/>
            <a:ext cx="11430000" cy="292608"/>
          </a:xfrm>
          <a:prstGeom prst="rect">
            <a:avLst/>
          </a:prstGeom>
          <a:solidFill>
            <a:srgbClr val="D47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6510528"/>
            <a:ext cx="110642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悩みに気づかせ、なりたい自分を見つける場 ── それがカウンセリングの真髄 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