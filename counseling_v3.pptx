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5C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5C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74536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"/>
            <a:ext cx="502920" cy="6345936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"/>
            <a:ext cx="54864" cy="6345936"/>
          </a:xfrm>
          <a:prstGeom prst="rect">
            <a:avLst/>
          </a:prstGeom>
          <a:solidFill>
            <a:srgbClr val="D6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31168" y="228600"/>
            <a:ext cx="502920" cy="6345936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76304" y="228600"/>
            <a:ext cx="54864" cy="6345936"/>
          </a:xfrm>
          <a:prstGeom prst="rect">
            <a:avLst/>
          </a:prstGeom>
          <a:solidFill>
            <a:srgbClr val="D6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1371600"/>
            <a:ext cx="92354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1371600"/>
            <a:ext cx="9235440" cy="9144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3840480"/>
            <a:ext cx="9235440" cy="9144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1554480"/>
            <a:ext cx="8869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5C3D2E"/>
                </a:solidFill>
                <a:latin typeface="游明朝"/>
                <a:ea typeface="游明朝"/>
              </a:rPr>
              <a:t>カウンセリングの本質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743200"/>
            <a:ext cx="5760720" cy="457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83464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B6F55"/>
                </a:solidFill>
                <a:latin typeface="游明朝"/>
                <a:ea typeface="游明朝"/>
              </a:rPr>
              <a:t>── 答えを教えるのではなく、気づきを生む対話へ 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1148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6A5E"/>
                </a:solidFill>
                <a:latin typeface="游明朝"/>
                <a:ea typeface="游明朝"/>
              </a:rPr>
              <a:t>ファスティング指導士養成講座  ／  カウンセリング講義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846320"/>
            <a:ext cx="8503920" cy="868680"/>
          </a:xfrm>
          <a:prstGeom prst="rect">
            <a:avLst/>
          </a:prstGeom>
          <a:solidFill>
            <a:srgbClr val="E8D8C4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4956048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C3D2E"/>
                </a:solidFill>
                <a:latin typeface="游明朝"/>
                <a:ea typeface="游明朝"/>
              </a:rPr>
              <a:t>「悩みに気づかせる場が、最大の教育になる」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本日の講義内容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170432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2435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カウンセリングとは？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よくある誤解を解く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70432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70432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170432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2435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カウンセリングの真の目的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28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「気づき」を生む対話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23744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523744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07791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2523744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25968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悩みの構造を理解する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18211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なぜ一人では気づけないのか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523744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523744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907791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523744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5968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なりたい自分を見つける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18211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目標設定のプロセス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77056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877056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6110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3877056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50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Have to → Want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53542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内発的な動機を引き出す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877056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877056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61104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3877056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3950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一緒に叶える環境と知識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53542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サポートの重要性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30368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230368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614416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5230368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" y="5303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カウンセリングは最大の教育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88873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気づかせる力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230368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5230368"/>
            <a:ext cx="777240" cy="12344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614416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5230368"/>
            <a:ext cx="4800600" cy="530352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5303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実践：問いかけの技術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588873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聴く力・問う力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01｜カウンセリングとは？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594360"/>
          </a:xfrm>
          <a:prstGeom prst="rect">
            <a:avLst/>
          </a:prstGeom>
          <a:solidFill>
            <a:srgbClr val="C89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游明朝"/>
                <a:ea typeface="游明朝"/>
              </a:rPr>
              <a:t>よくある思い込み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4937760" cy="896112"/>
          </a:xfrm>
          <a:prstGeom prst="rect">
            <a:avLst/>
          </a:prstGeom>
          <a:solidFill>
            <a:srgbClr val="FDF2F0"/>
          </a:solidFill>
          <a:ln w="12700">
            <a:solidFill>
              <a:srgbClr val="C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5A4A"/>
                </a:solidFill>
                <a:latin typeface="游明朝"/>
                <a:ea typeface="游明朝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5A4A"/>
                </a:solidFill>
                <a:latin typeface="游明朝"/>
                <a:ea typeface="游明朝"/>
              </a:rPr>
              <a:t>「全部 答えてあげなきゃ」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4937760" cy="896112"/>
          </a:xfrm>
          <a:prstGeom prst="rect">
            <a:avLst/>
          </a:prstGeom>
          <a:solidFill>
            <a:srgbClr val="FDF2F0"/>
          </a:solidFill>
          <a:ln w="12700">
            <a:solidFill>
              <a:srgbClr val="C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5A4A"/>
                </a:solidFill>
                <a:latin typeface="游明朝"/>
                <a:ea typeface="游明朝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5A4A"/>
                </a:solidFill>
                <a:latin typeface="游明朝"/>
                <a:ea typeface="游明朝"/>
              </a:rPr>
              <a:t>「全部 伝えてあげなきゃ」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4937760" cy="896112"/>
          </a:xfrm>
          <a:prstGeom prst="rect">
            <a:avLst/>
          </a:prstGeom>
          <a:solidFill>
            <a:srgbClr val="FDF2F0"/>
          </a:solidFill>
          <a:ln w="12700">
            <a:solidFill>
              <a:srgbClr val="C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5A4A"/>
                </a:solidFill>
                <a:latin typeface="游明朝"/>
                <a:ea typeface="游明朝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7764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5A4A"/>
                </a:solidFill>
                <a:latin typeface="游明朝"/>
                <a:ea typeface="游明朝"/>
              </a:rPr>
              <a:t>「知識を教えることが
カウンセリング」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937760" cy="896112"/>
          </a:xfrm>
          <a:prstGeom prst="rect">
            <a:avLst/>
          </a:prstGeom>
          <a:solidFill>
            <a:srgbClr val="FDF2F0"/>
          </a:solidFill>
          <a:ln w="12700">
            <a:solidFill>
              <a:srgbClr val="C89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5A4A"/>
                </a:solidFill>
                <a:latin typeface="游明朝"/>
                <a:ea typeface="游明朝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5A4A"/>
                </a:solidFill>
                <a:latin typeface="游明朝"/>
                <a:ea typeface="游明朝"/>
              </a:rPr>
              <a:t>「専門家が正解を提供する場」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6F55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097280"/>
            <a:ext cx="53035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097280"/>
            <a:ext cx="5303520" cy="59436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1612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游明朝"/>
                <a:ea typeface="游明朝"/>
              </a:rPr>
              <a:t>カウンセリングの本質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828800"/>
            <a:ext cx="4937760" cy="896112"/>
          </a:xfrm>
          <a:prstGeom prst="rect">
            <a:avLst/>
          </a:prstGeom>
          <a:solidFill>
            <a:srgbClr val="F5EEE4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0116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1965960"/>
            <a:ext cx="4251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「気づきを生む場」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834640"/>
            <a:ext cx="4937760" cy="896112"/>
          </a:xfrm>
          <a:prstGeom prst="rect">
            <a:avLst/>
          </a:prstGeom>
          <a:solidFill>
            <a:srgbClr val="F5EEE4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0175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971800"/>
            <a:ext cx="4251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「なりたい自分を見つける場」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840480"/>
            <a:ext cx="4937760" cy="896112"/>
          </a:xfrm>
          <a:prstGeom prst="rect">
            <a:avLst/>
          </a:prstGeom>
          <a:solidFill>
            <a:srgbClr val="F5EEE4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0233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977640"/>
            <a:ext cx="4251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「悩みの本質に
自分で気づく場」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846320"/>
            <a:ext cx="4937760" cy="896112"/>
          </a:xfrm>
          <a:prstGeom prst="rect">
            <a:avLst/>
          </a:prstGeom>
          <a:solidFill>
            <a:srgbClr val="F5EEE4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50292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4983480"/>
            <a:ext cx="4251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「最大の教育ができる場」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02｜カウンセリングの真の目的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868680"/>
          </a:xfrm>
          <a:prstGeom prst="rect">
            <a:avLst/>
          </a:prstGeom>
          <a:solidFill>
            <a:srgbClr val="E8D8C4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3D2E"/>
                </a:solidFill>
                <a:latin typeface="游明朝"/>
                <a:ea typeface="游明朝"/>
              </a:rPr>
              <a:t>「答えを教える場」ではなく
「自分に足りないものに気づかせる場」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5661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566160" cy="59436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356616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気づきを生む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402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6F55"/>
                </a:solidFill>
                <a:latin typeface="游明朝"/>
                <a:ea typeface="游明朝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クライアントが自分では見えていない
悩みの本質・原因に気づく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35661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3566160" cy="59436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788920"/>
            <a:ext cx="356616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82549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なりたい自分を
見つける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402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6F55"/>
                </a:solidFill>
                <a:latin typeface="游明朝"/>
                <a:ea typeface="游明朝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93008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理想の未来像を明確にして
そこへ向かう意欲を引き出す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94560"/>
            <a:ext cx="35661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194560"/>
            <a:ext cx="3566160" cy="59436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788920"/>
            <a:ext cx="356616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82549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行動への
橋渡し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4028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6F55"/>
                </a:solidFill>
                <a:latin typeface="游明朝"/>
                <a:ea typeface="游明朝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93008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気づきを一人で抱えず
必要な環境・知識につなげる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E5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03｜悩みの構造 ── なぜ一人では気づけないの？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12064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6F55"/>
                </a:solidFill>
                <a:latin typeface="游明朝"/>
                <a:ea typeface="游明朝"/>
              </a:rPr>
              <a:t>氷山モデル：悩みの構造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754880" cy="896112"/>
          </a:xfrm>
          <a:prstGeom prst="rect">
            <a:avLst/>
          </a:prstGeom>
          <a:solidFill>
            <a:srgbClr val="EE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水面上（見えている悩み）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5720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C3D2E"/>
                </a:solidFill>
                <a:latin typeface="游明朝"/>
                <a:ea typeface="游明朝"/>
              </a:rPr>
              <a:t>「体重が減らない」「続かない」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4754880" cy="1143000"/>
          </a:xfrm>
          <a:prstGeom prst="rect">
            <a:avLst/>
          </a:prstGeom>
          <a:solidFill>
            <a:srgbClr val="D8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水面下（隠れた本音）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C3D2E"/>
                </a:solidFill>
                <a:latin typeface="游明朝"/>
                <a:ea typeface="游明朝"/>
              </a:rPr>
              <a:t>「自己否定感」「孤独感」
「誰にも言えないストレス」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03904"/>
            <a:ext cx="4754880" cy="1627632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587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明朝"/>
                <a:ea typeface="游明朝"/>
              </a:rPr>
              <a:t>深部（根本原因）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61104"/>
            <a:ext cx="45720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游明朝"/>
                <a:ea typeface="游明朝"/>
              </a:rPr>
              <a:t>生活習慣の背景にある
ストレス・環境・
セルフイメージの問題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14300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D2E"/>
                </a:solidFill>
                <a:latin typeface="游明朝"/>
                <a:ea typeface="游明朝"/>
              </a:rPr>
              <a:t>一人では気づけない　3つの理由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673352"/>
            <a:ext cx="6126480" cy="45720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1856231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856231"/>
            <a:ext cx="6126480" cy="5029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19476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8B4A"/>
                </a:solidFill>
                <a:latin typeface="游明朝"/>
                <a:ea typeface="游明朝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938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客観視が難しい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432303"/>
            <a:ext cx="58521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自分の「当たり前」が問題だと
気づきにくい。魚は水が見えない。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429000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429000"/>
            <a:ext cx="6126480" cy="5029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520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8B4A"/>
                </a:solidFill>
                <a:latin typeface="游明朝"/>
                <a:ea typeface="游明朝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502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思い込みのフィルター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005072"/>
            <a:ext cx="58521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「どうせ無理」「自分はダメ」という
固定観念が本質を覆い隠す。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5001768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5001768"/>
            <a:ext cx="6126480" cy="5029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509320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8B4A"/>
                </a:solidFill>
                <a:latin typeface="游明朝"/>
                <a:ea typeface="游明朝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074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同じ視点での堂々巡り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577840"/>
            <a:ext cx="58521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同じ思考パターンで考え続けても
新しい気づきは生まれにくい。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E5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「気づき」が生まれる瞬間 ── 対話のリアル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8B6F55"/>
                </a:solidFill>
                <a:latin typeface="游明朝"/>
                <a:ea typeface="游明朝"/>
              </a:rPr>
              <a:t>カウンセラーの問いかけが、クライアントの内側にある答えを引き出す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11430000" cy="749808"/>
          </a:xfrm>
          <a:prstGeom prst="rect">
            <a:avLst/>
          </a:prstGeom>
          <a:solidFill>
            <a:srgbClr val="F5EEE4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105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55"/>
                </a:solidFill>
                <a:latin typeface="游明朝"/>
                <a:ea typeface="游明朝"/>
              </a:rPr>
              <a:t>【カウンセラー】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73936"/>
            <a:ext cx="9235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6F55"/>
                </a:solidFill>
                <a:latin typeface="游明朝"/>
                <a:ea typeface="游明朝"/>
              </a:rPr>
              <a:t>「ファスティングで一番うまくいかないのは、どんなときですか？」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50592"/>
            <a:ext cx="11430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5968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6A5E"/>
                </a:solidFill>
                <a:latin typeface="游明朝"/>
                <a:ea typeface="游明朝"/>
              </a:rPr>
              <a:t>【クライアント】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60320"/>
            <a:ext cx="9235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6A5E"/>
                </a:solidFill>
                <a:latin typeface="游明朝"/>
                <a:ea typeface="游明朝"/>
              </a:rPr>
              <a:t>「夜、仕事から帰ると… つい食べてしまうんです」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36976"/>
            <a:ext cx="11430000" cy="749808"/>
          </a:xfrm>
          <a:prstGeom prst="rect">
            <a:avLst/>
          </a:prstGeom>
          <a:solidFill>
            <a:srgbClr val="F5EEE4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55"/>
                </a:solidFill>
                <a:latin typeface="游明朝"/>
                <a:ea typeface="游明朝"/>
              </a:rPr>
              <a:t>【カウンセラー】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346704"/>
            <a:ext cx="9235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6F55"/>
                </a:solidFill>
                <a:latin typeface="游明朝"/>
                <a:ea typeface="游明朝"/>
              </a:rPr>
              <a:t>「そのとき、どんな気持ちになっていますか？」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1696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6A5E"/>
                </a:solidFill>
                <a:latin typeface="游明朝"/>
                <a:ea typeface="游明朝"/>
              </a:rPr>
              <a:t>【クライアント】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133088"/>
            <a:ext cx="9235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6A5E"/>
                </a:solidFill>
                <a:latin typeface="游明朝"/>
                <a:ea typeface="游明朝"/>
              </a:rPr>
              <a:t>「疲れていて… 自分へのご褒美が欲しくなる感じがします」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9744"/>
            <a:ext cx="11430000" cy="749808"/>
          </a:xfrm>
          <a:prstGeom prst="rect">
            <a:avLst/>
          </a:prstGeom>
          <a:solidFill>
            <a:srgbClr val="F5EEE4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55"/>
                </a:solidFill>
                <a:latin typeface="游明朝"/>
                <a:ea typeface="游明朝"/>
              </a:rPr>
              <a:t>【カウンセラー】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919472"/>
            <a:ext cx="9235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6F55"/>
                </a:solidFill>
                <a:latin typeface="游明朝"/>
                <a:ea typeface="游明朝"/>
              </a:rPr>
              <a:t>「食べること以外に、何かご褒美があったら変わりそうですか？」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96128"/>
            <a:ext cx="11430000" cy="749808"/>
          </a:xfrm>
          <a:prstGeom prst="rect">
            <a:avLst/>
          </a:prstGeom>
          <a:solidFill>
            <a:srgbClr val="E8D8C4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42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6A5E"/>
                </a:solidFill>
                <a:latin typeface="游明朝"/>
                <a:ea typeface="游明朝"/>
              </a:rPr>
              <a:t>【クライアント】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705856"/>
            <a:ext cx="9235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D2E"/>
                </a:solidFill>
                <a:latin typeface="游明朝"/>
                <a:ea typeface="游明朝"/>
              </a:rPr>
              <a:t>「……あ！ そっか。食べること以外で自分を癒す方法、考えたことなかったです」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気づきは「教えられるもの」ではなく、問いかけによって自分の中から生まれるもの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04｜なりたい自分を見つける ── 目標設定の4ステップ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788920" cy="640080"/>
          </a:xfrm>
          <a:prstGeom prst="rect">
            <a:avLst/>
          </a:prstGeom>
          <a:solidFill>
            <a:srgbClr val="EA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D2E"/>
                </a:solidFill>
                <a:latin typeface="游明朝"/>
                <a:ea typeface="游明朝"/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78892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965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游明朝"/>
                <a:ea typeface="游明朝"/>
              </a:rPr>
              <a:t>現在地を知る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487168"/>
            <a:ext cx="25786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今、どんな状態？
何に困っている？
何を感じている？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474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C2A8"/>
                </a:solidFill>
                <a:latin typeface="游明朝"/>
                <a:ea typeface="游明朝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43000"/>
            <a:ext cx="2788920" cy="640080"/>
          </a:xfrm>
          <a:prstGeom prst="rect">
            <a:avLst/>
          </a:prstGeom>
          <a:solidFill>
            <a:srgbClr val="DC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1704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D2E"/>
                </a:solidFill>
                <a:latin typeface="游明朝"/>
                <a:ea typeface="游明朝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83080"/>
            <a:ext cx="278892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81965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游明朝"/>
                <a:ea typeface="游明朝"/>
              </a:rPr>
              <a:t>痛みを掘り下げる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487168"/>
            <a:ext cx="25786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その悩みの奥にある
本当の感情は？
いつからそう感じてる？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474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C2A8"/>
                </a:solidFill>
                <a:latin typeface="游明朝"/>
                <a:ea typeface="游明朝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2788920" cy="640080"/>
          </a:xfrm>
          <a:prstGeom prst="rect">
            <a:avLst/>
          </a:prstGeom>
          <a:solidFill>
            <a:srgbClr val="CC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1704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D2E"/>
                </a:solidFill>
                <a:latin typeface="游明朝"/>
                <a:ea typeface="游明朝"/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278892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81965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游明朝"/>
                <a:ea typeface="游明朝"/>
              </a:rPr>
              <a:t>理想を描く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487168"/>
            <a:ext cx="25786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どんな自分になりたい？
それが叶ったらどんな気持ち？
大切にしたい価値観は？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34747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C2A8"/>
                </a:solidFill>
                <a:latin typeface="游明朝"/>
                <a:ea typeface="游明朝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143000"/>
            <a:ext cx="2788920" cy="64008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17043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D2E"/>
                </a:solidFill>
                <a:latin typeface="游明朝"/>
                <a:ea typeface="游明朝"/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1783080"/>
            <a:ext cx="278892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81965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游明朝"/>
                <a:ea typeface="游明朝"/>
              </a:rPr>
              <a:t>ギャップを言語化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2487168"/>
            <a:ext cx="257860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現在地と理想の差は？
何があれば埋まる？
何が邪魔している？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464808"/>
            <a:ext cx="11338560" cy="329184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カウンセリングはクライアント自身が「なりたい自分」を言語化できるよう伴走するプロセス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E5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05｜Have to → Want to ── 40代女性のあるあると変化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11430000" cy="475488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24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8B6F55"/>
                </a:solidFill>
                <a:latin typeface="游明朝"/>
                <a:ea typeface="游明朝"/>
              </a:rPr>
              <a:t>── 40代になって、こんな気持ち、ありませんか？ ──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73352"/>
            <a:ext cx="356616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6479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「また食べちゃった…
意志が弱い私ってダメだ」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73352"/>
            <a:ext cx="356616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76479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「運動しなきゃとは
思ってるんだけど…」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73352"/>
            <a:ext cx="356616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6479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「わかってる、でも
できない、がずっと続いてる」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99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A6A5E"/>
                </a:solidFill>
                <a:latin typeface="游明朝"/>
                <a:ea typeface="游明朝"/>
              </a:rPr>
              <a:t>↑　これが「Have to（〜しなければ）」思考のサイン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93008"/>
            <a:ext cx="11430000" cy="45720"/>
          </a:xfrm>
          <a:prstGeom prst="rect">
            <a:avLst/>
          </a:prstGeom>
          <a:solidFill>
            <a:srgbClr val="D6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5349240" cy="457200"/>
          </a:xfrm>
          <a:prstGeom prst="rect">
            <a:avLst/>
          </a:prstGeom>
          <a:solidFill>
            <a:srgbClr val="A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611880"/>
            <a:ext cx="5349240" cy="457200"/>
          </a:xfrm>
          <a:prstGeom prst="rect">
            <a:avLst/>
          </a:prstGeom>
          <a:solidFill>
            <a:srgbClr val="7A9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4845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游明朝"/>
                <a:ea typeface="游明朝"/>
              </a:rPr>
              <a:t>Have to（〜しなきゃ）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48456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游明朝"/>
                <a:ea typeface="游明朝"/>
              </a:rPr>
              <a:t>Want to（〜したい！）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6576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33087"/>
            <a:ext cx="5349240" cy="576072"/>
          </a:xfrm>
          <a:prstGeom prst="rect">
            <a:avLst/>
          </a:prstGeom>
          <a:solidFill>
            <a:srgbClr val="FDF0EE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4133087"/>
            <a:ext cx="5349240" cy="576072"/>
          </a:xfrm>
          <a:prstGeom prst="rect">
            <a:avLst/>
          </a:prstGeom>
          <a:solidFill>
            <a:srgbClr val="F2F7EE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24527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5A4A"/>
                </a:solidFill>
                <a:latin typeface="游明朝"/>
                <a:ea typeface="游明朝"/>
              </a:rPr>
              <a:t>「痩せなきゃいけない」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24527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9674"/>
                </a:solidFill>
                <a:latin typeface="游明朝"/>
                <a:ea typeface="游明朝"/>
              </a:rPr>
              <a:t>「娘の結婚式に、自信を持って立ちたい」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233672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54879"/>
            <a:ext cx="5349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754879"/>
            <a:ext cx="5349240" cy="576072"/>
          </a:xfrm>
          <a:prstGeom prst="rect">
            <a:avLst/>
          </a:prstGeom>
          <a:solidFill>
            <a:srgbClr val="FBF7F2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46319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5A4A"/>
                </a:solidFill>
                <a:latin typeface="游明朝"/>
                <a:ea typeface="游明朝"/>
              </a:rPr>
              <a:t>「食べるのを我慢しなきゃ」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19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9674"/>
                </a:solidFill>
                <a:latin typeface="游明朝"/>
                <a:ea typeface="游明朝"/>
              </a:rPr>
              <a:t>「体が軽い感覚を、また味わいたい」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855464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76672"/>
            <a:ext cx="5349240" cy="576072"/>
          </a:xfrm>
          <a:prstGeom prst="rect">
            <a:avLst/>
          </a:prstGeom>
          <a:solidFill>
            <a:srgbClr val="FDF0EE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5376672"/>
            <a:ext cx="5349240" cy="576072"/>
          </a:xfrm>
          <a:prstGeom prst="rect">
            <a:avLst/>
          </a:prstGeom>
          <a:solidFill>
            <a:srgbClr val="F2F7EE"/>
          </a:solidFill>
          <a:ln w="63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468112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5A4A"/>
                </a:solidFill>
                <a:latin typeface="游明朝"/>
                <a:ea typeface="游明朝"/>
              </a:rPr>
              <a:t>「運動しなきゃ」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468112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9674"/>
                </a:solidFill>
                <a:latin typeface="游明朝"/>
                <a:ea typeface="游明朝"/>
              </a:rPr>
              <a:t>「50代も元気でいたい。孫と走り回りたい」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477256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6F55"/>
                </a:solidFill>
                <a:latin typeface="游明朝"/>
                <a:ea typeface="游明朝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A9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「Want to」を引き出す ── カウンセリングの実例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698480" cy="731520"/>
          </a:xfrm>
          <a:prstGeom prst="rect">
            <a:avLst/>
          </a:prstGeom>
          <a:solidFill>
            <a:srgbClr val="E8D8C4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24712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3D2E"/>
                </a:solidFill>
                <a:latin typeface="游明朝"/>
                <a:ea typeface="游明朝"/>
              </a:rPr>
              <a:t>困っている人の「本当に叶えたいこと」を一緒に言語化するのが、カウンセリングの出発点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566160" cy="685800"/>
          </a:xfrm>
          <a:prstGeom prst="rect">
            <a:avLst/>
          </a:prstGeom>
          <a:solidFill>
            <a:srgbClr val="EA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3310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STEP 1
表面の悩みを聴く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33101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「体重が落ちない、
ずっとリバウンドしている」
→ 否定せず、まずそのまま受け取る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40233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C2A8"/>
                </a:solidFill>
                <a:latin typeface="游明朝"/>
                <a:ea typeface="游明朝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5661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566160" cy="685800"/>
          </a:xfrm>
          <a:prstGeom prst="rect">
            <a:avLst/>
          </a:prstGeom>
          <a:solidFill>
            <a:srgbClr val="DCC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56816"/>
            <a:ext cx="3310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STEP 2
本当の気持ちを掘り下げる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24912"/>
            <a:ext cx="33101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「どうして痩せたいんですか？」
「叶ったらどんな気持ちに？」
→「娘の成人式で一緒に
写真を撮りたい」という言葉が出てきた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0233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C2A8"/>
                </a:solidFill>
                <a:latin typeface="游明朝"/>
                <a:ea typeface="游明朝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5661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566160" cy="685800"/>
          </a:xfrm>
          <a:prstGeom prst="rect">
            <a:avLst/>
          </a:prstGeom>
          <a:solidFill>
            <a:srgbClr val="CC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56816"/>
            <a:ext cx="33101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D2E"/>
                </a:solidFill>
                <a:latin typeface="游明朝"/>
                <a:ea typeface="游明朝"/>
              </a:rPr>
              <a:t>STEP 3
Want to が生まれる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24912"/>
            <a:ext cx="33101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「痩せなきゃ」が
「娘との写真のために
体を整えたい！」に変わる
→ 行動の源泉が「義務」から
「愛情と喜び」へ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9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游明朝"/>
                <a:ea typeface="游明朝"/>
              </a:rPr>
              <a:t>「痩せたい」は入口。カウンセラーはその奥にある Want to を一緒に見つける人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06｜一人ではできない ── 必要な環境と知識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698480" cy="914400"/>
          </a:xfrm>
          <a:prstGeom prst="rect">
            <a:avLst/>
          </a:prstGeom>
          <a:solidFill>
            <a:srgbClr val="E8D8C4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3D2E"/>
                </a:solidFill>
                <a:latin typeface="游明朝"/>
                <a:ea typeface="游明朝"/>
              </a:rPr>
              <a:t>気づきは一歩目。
「変わる」ためには、適切な環境・知識・伴走者のサポートが必要です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5661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3566160" cy="713232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6F55"/>
                </a:solidFill>
                <a:latin typeface="游明朝"/>
                <a:ea typeface="游明朝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3113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環境づくり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62072"/>
            <a:ext cx="3566160" cy="47548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仲間・コミュニティの存在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4223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記録できる仕組み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3717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定期的な振り返りの場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家族や周囲の理解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148840"/>
            <a:ext cx="35661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148840"/>
            <a:ext cx="3566160" cy="713232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194560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6F55"/>
                </a:solidFill>
                <a:latin typeface="游明朝"/>
                <a:ea typeface="游明朝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3113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知識のサポート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862072"/>
            <a:ext cx="3566160" cy="47548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472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ファスティングの正しい方法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4223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体の仕組みと食の関係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83717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リバウンドを防ぐ考え方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5321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メンタルと食欲の関連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48840"/>
            <a:ext cx="35661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148840"/>
            <a:ext cx="3566160" cy="713232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194560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6F55"/>
                </a:solidFill>
                <a:latin typeface="游明朝"/>
                <a:ea typeface="游明朝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23113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伴走するカウンセラー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862072"/>
            <a:ext cx="3566160" cy="47548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4472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定期的な対話と確認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14223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モチベーションの維持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3717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躓いたときの軌道修正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5321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3530"/>
                </a:solidFill>
                <a:latin typeface="游明朝"/>
                <a:ea typeface="游明朝"/>
              </a:rPr>
              <a:t>◆  次の目標の設定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E5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07｜カウンセリングは「最大の教育の場」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566928"/>
          </a:xfrm>
          <a:prstGeom prst="rect">
            <a:avLst/>
          </a:prstGeom>
          <a:solidFill>
            <a:srgbClr val="C0A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一般的な「教える」教育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A5E"/>
                </a:solidFill>
                <a:latin typeface="游明朝"/>
                <a:ea typeface="游明朝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知識を一方向に伝える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2491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A5E"/>
                </a:solidFill>
                <a:latin typeface="游明朝"/>
                <a:ea typeface="游明朝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249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「正解」を外から与える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958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A5E"/>
                </a:solidFill>
                <a:latin typeface="游明朝"/>
                <a:ea typeface="游明朝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受け手が受動的になりやすい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3425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A5E"/>
                </a:solidFill>
                <a:latin typeface="游明朝"/>
                <a:ea typeface="游明朝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342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「わかった」だけで終わりがち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38927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A6A5E"/>
                </a:solidFill>
                <a:latin typeface="游明朝"/>
                <a:ea typeface="游明朝"/>
              </a:rPr>
              <a:t>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38927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530"/>
                </a:solidFill>
                <a:latin typeface="游明朝"/>
                <a:ea typeface="游明朝"/>
              </a:rPr>
              <a:t>行動変容につながりにくい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474720"/>
            <a:ext cx="713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6A5E"/>
                </a:solidFill>
                <a:latin typeface="游明朝"/>
                <a:ea typeface="游明朝"/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097280"/>
            <a:ext cx="5303520" cy="56692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1430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カウンセリングによる教育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F55"/>
                </a:solidFill>
                <a:latin typeface="游明朝"/>
                <a:ea typeface="游明朝"/>
              </a:rPr>
              <a:t>問いかけで自ら考えさせる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249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7249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F55"/>
                </a:solidFill>
                <a:latin typeface="游明朝"/>
                <a:ea typeface="游明朝"/>
              </a:rPr>
              <a:t>自分の中から「答え」が出てくる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2958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52958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F55"/>
                </a:solidFill>
                <a:latin typeface="游明朝"/>
                <a:ea typeface="游明朝"/>
              </a:rPr>
              <a:t>当事者意識・主体性が生まれる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3425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3342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F55"/>
                </a:solidFill>
                <a:latin typeface="游明朝"/>
                <a:ea typeface="游明朝"/>
              </a:rPr>
              <a:t>「気づき」は深く記憶に残る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3892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8B4A"/>
                </a:solidFill>
                <a:latin typeface="游明朝"/>
                <a:ea typeface="游明朝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138927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6F55"/>
                </a:solidFill>
                <a:latin typeface="游明朝"/>
                <a:ea typeface="游明朝"/>
              </a:rPr>
              <a:t>行動変容に直結する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solidFill>
            <a:srgbClr val="6E5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游明朝"/>
                <a:ea typeface="游明朝"/>
              </a:rPr>
              <a:t>「知識を教えてもらった」より「自分で気づいた」ことのほうが、人は動く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08｜問いかけの技術 ── 聴く力・問う力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566928"/>
          </a:xfrm>
          <a:prstGeom prst="rect">
            <a:avLst/>
          </a:prstGeom>
          <a:solidFill>
            <a:srgbClr val="A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避けたい問いかけ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01368"/>
            <a:ext cx="5029200" cy="1005840"/>
          </a:xfrm>
          <a:prstGeom prst="rect">
            <a:avLst/>
          </a:prstGeom>
          <a:solidFill>
            <a:srgbClr val="FDF2F0"/>
          </a:solidFill>
          <a:ln w="10160">
            <a:solidFill>
              <a:srgbClr val="C0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A4A"/>
                </a:solidFill>
                <a:latin typeface="游明朝"/>
                <a:ea typeface="游明朝"/>
              </a:rPr>
              <a:t>「ちゃんと食事制限しましたか？」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詰問。相手が萎縮する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029200" cy="1005840"/>
          </a:xfrm>
          <a:prstGeom prst="rect">
            <a:avLst/>
          </a:prstGeom>
          <a:solidFill>
            <a:srgbClr val="FDF2F0"/>
          </a:solidFill>
          <a:ln w="10160">
            <a:solidFill>
              <a:srgbClr val="C0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A4A"/>
                </a:solidFill>
                <a:latin typeface="游明朝"/>
                <a:ea typeface="游明朝"/>
              </a:rPr>
              <a:t>「それはこうすればいいですよ」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答えを与えすぎ。主体性が消える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59352"/>
            <a:ext cx="5029200" cy="1005840"/>
          </a:xfrm>
          <a:prstGeom prst="rect">
            <a:avLst/>
          </a:prstGeom>
          <a:solidFill>
            <a:srgbClr val="FDF2F0"/>
          </a:solidFill>
          <a:ln w="10160">
            <a:solidFill>
              <a:srgbClr val="C0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32504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A4A"/>
                </a:solidFill>
                <a:latin typeface="游明朝"/>
                <a:ea typeface="游明朝"/>
              </a:rPr>
              <a:t>「なんでできないんですか？」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079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責める印象。信頼関係が壊れる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38344"/>
            <a:ext cx="5029200" cy="1005840"/>
          </a:xfrm>
          <a:prstGeom prst="rect">
            <a:avLst/>
          </a:prstGeom>
          <a:solidFill>
            <a:srgbClr val="FDF2F0"/>
          </a:solidFill>
          <a:ln w="10160">
            <a:solidFill>
              <a:srgbClr val="C0A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11496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A4A"/>
                </a:solidFill>
                <a:latin typeface="游明朝"/>
                <a:ea typeface="游明朝"/>
              </a:rPr>
              <a:t>「〇〇すべきですよね」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8698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押しつけ。反発を生みやすい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3474720"/>
            <a:ext cx="713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6A5E"/>
                </a:solidFill>
                <a:latin typeface="游明朝"/>
                <a:ea typeface="游明朝"/>
              </a:rPr>
              <a:t>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097280"/>
            <a:ext cx="5303520" cy="566928"/>
          </a:xfrm>
          <a:prstGeom prst="rect">
            <a:avLst/>
          </a:prstGeom>
          <a:solidFill>
            <a:srgbClr val="7A9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1430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  <a:ea typeface="游明朝"/>
              </a:rPr>
              <a:t>効果的な問いかけ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1801368"/>
            <a:ext cx="5029200" cy="1005840"/>
          </a:xfrm>
          <a:prstGeom prst="rect">
            <a:avLst/>
          </a:prstGeom>
          <a:solidFill>
            <a:srgbClr val="F5EEE4"/>
          </a:solidFill>
          <a:ln w="1016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87451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F55"/>
                </a:solidFill>
                <a:latin typeface="游明朝"/>
                <a:ea typeface="游明朝"/>
              </a:rPr>
              <a:t>「今、どんなことを感じていますか？」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4231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感情に寄り添うオープン質問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880360"/>
            <a:ext cx="5029200" cy="1005840"/>
          </a:xfrm>
          <a:prstGeom prst="rect">
            <a:avLst/>
          </a:prstGeom>
          <a:solidFill>
            <a:srgbClr val="F5EEE4"/>
          </a:solidFill>
          <a:ln w="1016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9535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F55"/>
                </a:solidFill>
                <a:latin typeface="游明朝"/>
                <a:ea typeface="游明朝"/>
              </a:rPr>
              <a:t>「うまくいったとしたら
どんな違いがありますか？」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50215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理想の未来を描かせる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3959352"/>
            <a:ext cx="5029200" cy="1005840"/>
          </a:xfrm>
          <a:prstGeom prst="rect">
            <a:avLst/>
          </a:prstGeom>
          <a:solidFill>
            <a:srgbClr val="F5EEE4"/>
          </a:solidFill>
          <a:ln w="1016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03250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F55"/>
                </a:solidFill>
                <a:latin typeface="游明朝"/>
                <a:ea typeface="游明朝"/>
              </a:rPr>
              <a:t>「それをやってみてどうでしたか？」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5811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体験を通じた気づきを促す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5038344"/>
            <a:ext cx="5029200" cy="1005840"/>
          </a:xfrm>
          <a:prstGeom prst="rect">
            <a:avLst/>
          </a:prstGeom>
          <a:solidFill>
            <a:srgbClr val="F5EEE4"/>
          </a:solidFill>
          <a:ln w="1016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51114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F55"/>
                </a:solidFill>
                <a:latin typeface="游明朝"/>
                <a:ea typeface="游明朝"/>
              </a:rPr>
              <a:t>「一番大切にしたいことは何ですか？」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66013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6A5E"/>
                </a:solidFill>
                <a:latin typeface="游明朝"/>
                <a:ea typeface="游明朝"/>
              </a:rPr>
              <a:t>→ 価値観に触れる深い問い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5C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5C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201168"/>
            <a:ext cx="54864" cy="64556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69496" y="201168"/>
            <a:ext cx="54864" cy="64556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C3D2E"/>
                </a:solidFill>
                <a:latin typeface="游明朝"/>
                <a:ea typeface="游明朝"/>
              </a:rPr>
              <a:t>資格を取ったあなたへ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993392"/>
            <a:ext cx="6675120" cy="64008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6F55"/>
                </a:solidFill>
                <a:latin typeface="游明朝"/>
                <a:ea typeface="游明朝"/>
              </a:rPr>
              <a:t>「全部答えてあげなきゃ」と思わなくていい。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950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6F55"/>
                </a:solidFill>
                <a:latin typeface="游明朝"/>
                <a:ea typeface="游明朝"/>
              </a:rPr>
              <a:t>「全部伝えてあげなきゃ」と思わなくていい。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D3530"/>
                </a:solidFill>
                <a:latin typeface="游明朝"/>
                <a:ea typeface="游明朝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596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5C3D2E"/>
                </a:solidFill>
                <a:latin typeface="游明朝"/>
                <a:ea typeface="游明朝"/>
              </a:rPr>
              <a:t>あなたの役割は、答えを渡すことではなく、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5C3D2E"/>
                </a:solidFill>
                <a:latin typeface="游明朝"/>
                <a:ea typeface="游明朝"/>
              </a:rPr>
              <a:t>クライアントが自分の答えに気づく手助けをすること。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742432"/>
            <a:ext cx="9418320" cy="896112"/>
          </a:xfrm>
          <a:prstGeom prst="rect">
            <a:avLst/>
          </a:prstGeom>
          <a:solidFill>
            <a:srgbClr val="E8D8C4"/>
          </a:solidFill>
          <a:ln w="25400">
            <a:solidFill>
              <a:srgbClr val="D6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769864"/>
            <a:ext cx="9052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C3D2E"/>
                </a:solidFill>
                <a:latin typeface="游明朝"/>
                <a:ea typeface="游明朝"/>
              </a:rPr>
              <a:t>悩みに気づかせる場をつくれるカウンセラーが、
最大の教育者になれる。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游明朝"/>
                <a:ea typeface="游明朝"/>
              </a:rPr>
              <a:t>まとめ ── カウンセリングの本質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658368" cy="10058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17320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6F55"/>
                </a:solidFill>
                <a:latin typeface="游明朝"/>
                <a:ea typeface="游明朝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2344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答えを教える場ではない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733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自分に足りないものに気づかせる、「気づきの場」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658368" cy="10058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14600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6F55"/>
                </a:solidFill>
                <a:latin typeface="游明朝"/>
                <a:ea typeface="游明朝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3172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「なりたい自分」を見つけるプロセスを支える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706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クライアントが自分の言葉で理想を語れるよう伴走する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658368" cy="10058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611879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6F55"/>
                </a:solidFill>
                <a:latin typeface="游明朝"/>
                <a:ea typeface="游明朝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42900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Have to → Want to への転換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867911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内側から湧く動機が、行動を長続きさせる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658368" cy="10058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709159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6F55"/>
                </a:solidFill>
                <a:latin typeface="游明朝"/>
                <a:ea typeface="游明朝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526279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一人では変われない、だから一緒に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96519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気づきの後には、環境・知識・伴走者が必要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658368" cy="1005840"/>
          </a:xfrm>
          <a:prstGeom prst="rect">
            <a:avLst/>
          </a:prstGeom>
          <a:solidFill>
            <a:srgbClr val="E8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806440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6F55"/>
                </a:solidFill>
                <a:latin typeface="游明朝"/>
                <a:ea typeface="游明朝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623559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D2E"/>
                </a:solidFill>
                <a:latin typeface="游明朝"/>
                <a:ea typeface="游明朝"/>
              </a:rPr>
              <a:t>カウンセリングは最大の教育の場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606247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6A5E"/>
                </a:solidFill>
                <a:latin typeface="游明朝"/>
                <a:ea typeface="游明朝"/>
              </a:rPr>
              <a:t>「自分で気づいた」ことは深く記憶に残り、行動変容に直結する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solidFill>
            <a:srgbClr val="8B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游明朝"/>
                <a:ea typeface="游明朝"/>
              </a:rPr>
              <a:t>悩みに気づかせ、なりたい自分を見つける場 ── それがカウンセリングの真髄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