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124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73152" cy="45720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カウンセリングの本質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81C784"/>
                </a:solidFill>
              </a:rPr>
              <a:t>〜 答えを教えるのではなく、気づきを生む対話へ 〜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383280"/>
            <a:ext cx="54864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E6C9"/>
                </a:solidFill>
              </a:rPr>
              <a:t>ファスティング指導士養成講座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5D6A7"/>
                </a:solidFill>
              </a:rPr>
              <a:t>カウンセリング講義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86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9A825"/>
                </a:solidFill>
              </a:rPr>
              <a:t>「悩みに気づかせる場が、最大の教育になる」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本日の講義内容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640080" cy="1463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91639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41731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カウンセリングとは何か？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</a:rPr>
              <a:t>よくある誤解を解く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4864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640080" cy="1463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91639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41731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カウンセリングの真の目的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057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</a:rPr>
              <a:t>「気づき」を生む対話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71800"/>
            <a:ext cx="54864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971800"/>
            <a:ext cx="640080" cy="1463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38328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1089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悩みの構造を理解する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7490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</a:rPr>
              <a:t>なぜ一人では気づけないのか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971800"/>
            <a:ext cx="54864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971800"/>
            <a:ext cx="640080" cy="1463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38328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1089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なりたい自分を見つける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490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</a:rPr>
              <a:t>目標設定のプロセス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663440"/>
            <a:ext cx="54864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663440"/>
            <a:ext cx="640080" cy="1463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07492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800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環境と知識の重要性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44067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</a:rPr>
              <a:t>一緒に叶えるために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663440"/>
            <a:ext cx="54864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663440"/>
            <a:ext cx="640080" cy="1463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507492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4800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実践：カウンセリングの流れ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544067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</a:rPr>
              <a:t>問いかけの技術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01｜カウンセリングとは何か？ ── よくある誤解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03520" cy="5120640"/>
          </a:xfrm>
          <a:prstGeom prst="rect">
            <a:avLst/>
          </a:prstGeom>
          <a:solidFill>
            <a:srgbClr val="FFC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03520" cy="64008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5272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❌  よくある誤解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47548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F360C"/>
                </a:solidFill>
              </a:rPr>
              <a:t>「全部答えてあげなきゃ」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71800"/>
            <a:ext cx="47548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1752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F360C"/>
                </a:solidFill>
              </a:rPr>
              <a:t>「全部伝えてあげなきゃ」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77639"/>
            <a:ext cx="47548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02336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F360C"/>
                </a:solidFill>
              </a:rPr>
              <a:t>「知識をたくさん教えること
がカウンセリング」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83480"/>
            <a:ext cx="47548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02920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F360C"/>
                </a:solidFill>
              </a:rPr>
              <a:t>「専門家が正しい答えを
提供する場」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188720"/>
            <a:ext cx="5303520" cy="51206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188720"/>
            <a:ext cx="5303520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25272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✅  カウンセリングの本質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965960"/>
            <a:ext cx="4937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20116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</a:rPr>
              <a:t>「気づきを生む場」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2971800"/>
            <a:ext cx="4937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30175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</a:rPr>
              <a:t>「なりたい自分を見つける場」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977639"/>
            <a:ext cx="4937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40233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</a:rPr>
              <a:t>「悩みの本質に
自分で気づいてもらう場」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4983480"/>
            <a:ext cx="4937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5029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</a:rPr>
              <a:t>「最大の教育が
できる場」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34747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757575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02｜カウンセリングの真の目的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188720"/>
            <a:ext cx="9966960" cy="1371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23444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カウンセリングとは、「答えを教える場」ではなく
「自分に足りないものに気づかせる場」である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26080"/>
            <a:ext cx="356616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1A1A2E"/>
                </a:solidFill>
              </a:rPr>
              <a:t>🔍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94760"/>
            <a:ext cx="3566160" cy="54864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22191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5E20"/>
                </a:solidFill>
              </a:rPr>
              <a:t>気づきを生む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805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クライアントが自分では見えていない
悩みの本質や原因に気づく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926080"/>
            <a:ext cx="356616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30175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1A1A2E"/>
                </a:solidFill>
              </a:rPr>
              <a:t>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3794760"/>
            <a:ext cx="3566160" cy="54864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3822191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5E20"/>
                </a:solidFill>
              </a:rPr>
              <a:t>なりたい自分を見つける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4805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理想の未来像を明確にし、
そこへ向かう意欲を引き出す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926080"/>
            <a:ext cx="356616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0175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1A1A2E"/>
                </a:solidFill>
              </a:rPr>
              <a:t>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794760"/>
            <a:ext cx="3566160" cy="54864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822191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5E20"/>
                </a:solidFill>
              </a:rPr>
              <a:t>行動への橋渡し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4805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気づいたことを一人で抱えるのではなく、
必要な環境・知識につなげる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03｜悩みの構造 ── なぜ一人では気づけないのか？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02920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898A"/>
                </a:solidFill>
              </a:rPr>
              <a:t>氷山モデル：悩みの構造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4480560" cy="1005840"/>
          </a:xfrm>
          <a:prstGeom prst="rect">
            <a:avLst/>
          </a:prstGeom>
          <a:solidFill>
            <a:srgbClr val="B3E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1579B"/>
                </a:solidFill>
              </a:rPr>
              <a:t>水面上：表面的な悩み
「体重が減らない」「続かない」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71800"/>
            <a:ext cx="4480560" cy="1005840"/>
          </a:xfrm>
          <a:prstGeom prst="rect">
            <a:avLst/>
          </a:prstGeom>
          <a:solidFill>
            <a:srgbClr val="81D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1579B"/>
                </a:solidFill>
              </a:rPr>
              <a:t>水面下：隠れた本音
「自己否定感」「孤独感」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114800"/>
            <a:ext cx="4480560" cy="164592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深部：根本原因
「生活習慣の背景にある
ストレスや環境の問題」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1887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898A"/>
                </a:solidFill>
              </a:rPr>
              <a:t>一人では気づけない理由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783080"/>
            <a:ext cx="6126480" cy="36576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1920240"/>
            <a:ext cx="6126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9B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993392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98A"/>
                </a:solidFill>
              </a:rPr>
              <a:t>👁️ 自分の中にいる限り
客観視が難しい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56032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魚は水の中にいるから水が見えない。
自分の当たり前が問題だと気づきにくい。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3474720"/>
            <a:ext cx="6126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9B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3547872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98A"/>
                </a:solidFill>
              </a:rPr>
              <a:t>💭 思い込みのフィルター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11480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「どうせ無理」「自分はダメ」という
固定観念が本質を覆い隠す。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5029200"/>
            <a:ext cx="6126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9B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5102352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98A"/>
                </a:solidFill>
              </a:rPr>
              <a:t>🔄 孤独な試行錯誤の限界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66928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同じ視点でぐるぐると考えても
新しい気づきは生まれにくい。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「気づき」が生まれる瞬間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A148C"/>
                </a:solidFill>
              </a:rPr>
              <a:t>カウンセラーの問いかけが、クライアントの内側にある答えを引き出す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1143000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E9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98A"/>
                </a:solidFill>
              </a:rPr>
              <a:t>【カウンセラー】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9202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98A"/>
                </a:solidFill>
              </a:rPr>
              <a:t>「ファスティングで一番うまくいかないのはどんなときですか？」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877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57575"/>
                </a:solidFill>
              </a:rPr>
              <a:t>【クライアント】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5877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57575"/>
                </a:solidFill>
              </a:rPr>
              <a:t>「夜、仕事から帰ってくると、つい食べてしまうんです…」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5526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98A"/>
                </a:solidFill>
              </a:rPr>
              <a:t>【カウンセラー】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255264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98A"/>
                </a:solidFill>
              </a:rPr>
              <a:t>「その時間、どんな気持ちになっていますか？」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227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57575"/>
                </a:solidFill>
              </a:rPr>
              <a:t>【クライアント】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922776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57575"/>
                </a:solidFill>
              </a:rPr>
              <a:t>「…疲れていて、ご褒美が欲しくなっている気がします」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9028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98A"/>
                </a:solidFill>
              </a:rPr>
              <a:t>【カウンセラー】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590288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98A"/>
                </a:solidFill>
              </a:rPr>
              <a:t>「なるほど。疲れているときに何か別のご褒美があったら、変わると思いますか？」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578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57575"/>
                </a:solidFill>
              </a:rPr>
              <a:t>【クライアント】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25780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A1B9A"/>
                </a:solidFill>
              </a:rPr>
              <a:t>「あ……そうか。食べること以外で自分を癒す方法、考えたことなかったです」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989320"/>
            <a:ext cx="11430000" cy="64008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0167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A1B9A"/>
                </a:solidFill>
              </a:rPr>
              <a:t>💡 気づきは「教えられるもの」ではなく「問いかけによって自分の中から生まれるもの」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04｜なりたい自分を見つける ── 目標設定のプロセス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5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743200" cy="731520"/>
          </a:xfrm>
          <a:prstGeom prst="rect">
            <a:avLst/>
          </a:prstGeom>
          <a:solidFill>
            <a:srgbClr val="E5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161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57373"/>
                </a:solidFill>
              </a:rPr>
              <a:t>現在地を知る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2377440" cy="36576"/>
          </a:xfrm>
          <a:prstGeom prst="rect">
            <a:avLst/>
          </a:prstGeom>
          <a:solidFill>
            <a:srgbClr val="E5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今、どんな状態にいるか？
何に困っているか？
何を感じているか？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57575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18872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188720"/>
            <a:ext cx="2743200" cy="73152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2161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0116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B74D"/>
                </a:solidFill>
              </a:rPr>
              <a:t>痛みを掘り下げる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2743200"/>
            <a:ext cx="2377440" cy="36576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88036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その悩みの奥にある
本当の感情は何か？
いつからそう感じている？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57575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18872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DB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188720"/>
            <a:ext cx="2743200" cy="73152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2161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0116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DB6AC"/>
                </a:solidFill>
              </a:rPr>
              <a:t>理想を描く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743200"/>
            <a:ext cx="2377440" cy="36576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88036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どんな自分になりたいか？
それが叶ったらどんな気持ち？
大切にしたい価値観は？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57575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1188720"/>
            <a:ext cx="274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35440" y="1188720"/>
            <a:ext cx="2743200" cy="7315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12161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20116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7D32"/>
                </a:solidFill>
              </a:rPr>
              <a:t>ギャップを言語化する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18320" y="2743200"/>
            <a:ext cx="237744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600" y="288036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現在地と理想の差は何か？
何があれば埋まるか？
何が邪魔しているか？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355080"/>
            <a:ext cx="11430000" cy="41148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3733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</a:rPr>
              <a:t>カウンセリングはクライアント自身が「なりたい自分」を言語化できるよう伴走するプロセス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05｜一人ではできない ── 必要な環境と知識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332720" cy="109728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170432"/>
            <a:ext cx="10058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65100"/>
                </a:solidFill>
              </a:rPr>
              <a:t>気づきは一歩目。でも、気づいただけでは変われない。
「変わる」ためには、適切な環境と知識のサポートが必要。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23160"/>
            <a:ext cx="35661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CC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3566160" cy="9144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871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🌿 環境づくり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仲間・コミュニティの存在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4223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記録できる仕組み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5546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定期的な振り返りの場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68696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家族や周囲の理解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423160"/>
            <a:ext cx="35661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CC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423160"/>
            <a:ext cx="3566160" cy="9144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4871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📚 知識のサポート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4290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ファスティングの正しい方法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14223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体の仕組みと食の関係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85546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リバウンドを防ぐ考え方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568696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メンタルと食欲の関連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2423160"/>
            <a:ext cx="35661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CC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2423160"/>
            <a:ext cx="3566160" cy="9144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4871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👥 伴走するカウンセラー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4290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定期的な対話と確認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14223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モチベーションの維持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85546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躓いたときの軌道修正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568696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次の目標の設定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カウンセリングは「最大の教育の場」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0352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9FA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03520" cy="64008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5272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一般的な「教える」教育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83593"/>
                </a:solidFill>
              </a:rPr>
              <a:t>• 知識を一方向に伝える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83593"/>
                </a:solidFill>
              </a:rPr>
              <a:t>• 「正解」を外から与える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83593"/>
                </a:solidFill>
              </a:rPr>
              <a:t>• 受け手が受動的になりやすい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434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83593"/>
                </a:solidFill>
              </a:rPr>
              <a:t>• 「わかった」だけで終わりがち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206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83593"/>
                </a:solidFill>
              </a:rPr>
              <a:t>• 行動変容に繋がりにくい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188720"/>
            <a:ext cx="530352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188720"/>
            <a:ext cx="5303520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25272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カウンセリングによる教育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0116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</a:rPr>
              <a:t>✓ 問いかけで自ら考えさせる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7889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</a:rPr>
              <a:t>✓ 自分の中から「答え」を引き出す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5661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</a:rPr>
              <a:t>✓ 当事者意識・主体性が生まれる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3434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</a:rPr>
              <a:t>✓ 「気づき」は深く記憶に残る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1206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</a:rPr>
              <a:t>✓ 行動変容に直結する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3832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57575"/>
                </a:solidFill>
              </a:rPr>
              <a:t>VS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355080"/>
            <a:ext cx="11430000" cy="41148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3733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「知識を教えてもらった」より「自分で気づいた」ことのほうが、人は動く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06｜実践：カウンセリングの流れ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246120"/>
            <a:ext cx="228600" cy="32004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14884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14884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16152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1C784"/>
                </a:solidFill>
              </a:rPr>
              <a:t>0〜5分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2148840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719072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</a:rPr>
              <a:t>🤝 ラポール形成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1965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信頼関係を築く
「話しやすい場」をつくる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3246120"/>
            <a:ext cx="228600" cy="32004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79" y="1188720"/>
            <a:ext cx="214884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97479" y="1188720"/>
            <a:ext cx="214884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199" y="1216152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1C784"/>
                </a:solidFill>
              </a:rPr>
              <a:t>5〜15分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79" y="1691640"/>
            <a:ext cx="2148840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199" y="1719072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</a:rPr>
              <a:t>🔍 現状ヒアリング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651760"/>
            <a:ext cx="1965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オープン質問で現状を聞く
批判せず、ありのままを受容する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3246120"/>
            <a:ext cx="228600" cy="32004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0" y="1188720"/>
            <a:ext cx="214884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1188720"/>
            <a:ext cx="214884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1216152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1C784"/>
                </a:solidFill>
              </a:rPr>
              <a:t>15〜25分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1691640"/>
            <a:ext cx="2148840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1719072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</a:rPr>
              <a:t>💡 悩みの深掘り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2651760"/>
            <a:ext cx="1965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「なぜ？」「どんな気持ち？」
で本質に迫る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9759" y="3246120"/>
            <a:ext cx="228600" cy="32004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19" y="1188720"/>
            <a:ext cx="214884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60919" y="1188720"/>
            <a:ext cx="214884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1216152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1C784"/>
                </a:solidFill>
              </a:rPr>
              <a:t>25〜35分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60919" y="1691640"/>
            <a:ext cx="2148840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0" y="1719072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</a:rPr>
              <a:t>🌟 理想の明確化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59" y="2651760"/>
            <a:ext cx="1965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「どうなりたいか？」を引き出し
言語化・視覚化する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640" y="1188720"/>
            <a:ext cx="214884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92640" y="1188720"/>
            <a:ext cx="214884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1216152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1C784"/>
                </a:solidFill>
              </a:rPr>
              <a:t>35〜45分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92640" y="1691640"/>
            <a:ext cx="2148840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38360" y="1719072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</a:rPr>
              <a:t>🗺️ 行動計画の共創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2651760"/>
            <a:ext cx="1965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一緒に「次の一歩」を決める
環境・知識のサポートを提案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6446520"/>
            <a:ext cx="11430000" cy="347472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464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</a:rPr>
              <a:t>⚡ ポイント：カウンセラーは「答えを持っている人」ではなく「正しい問いを持っている人」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問いかけの技術 ── 「聴く力」と「問う力」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0352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03520" cy="5943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❌ 避けるべき問いかけ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</a:rPr>
              <a:t>「ちゃんと食事制限しましたか？」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</a:rPr>
              <a:t>→ 詰問。相手が萎縮する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9923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</a:rPr>
              <a:t>「それはこうすればいいですよ」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</a:rPr>
              <a:t>→ 答えを与えすぎ。主体性が失われる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7822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</a:rPr>
              <a:t>「なんでできないんですか？」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3542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</a:rPr>
              <a:t>→ 責める印象。関係が壊れる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5721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</a:rPr>
              <a:t>「〇〇すべきですよね」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1441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</a:rPr>
              <a:t>→ 押しつけ。反発を生みやすい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188720"/>
            <a:ext cx="530352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80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188720"/>
            <a:ext cx="5303520" cy="59436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2344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✅ 効果的な問いかけ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920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98A"/>
                </a:solidFill>
              </a:rPr>
              <a:t>「今、どんなことを感じていますか？」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4871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</a:rPr>
              <a:t>→ 感情に寄り添うオープン質問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99923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98A"/>
                </a:solidFill>
              </a:rPr>
              <a:t>「うまくいったとしたら、
 どんな違いがありますか？」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566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</a:rPr>
              <a:t>→ 理想の未来を描かせる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07822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98A"/>
                </a:solidFill>
              </a:rPr>
              <a:t>「それをやってみてどうでしたか？」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6451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</a:rPr>
              <a:t>→ 体験を通じた気づきを促す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15721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98A"/>
                </a:solidFill>
              </a:rPr>
              <a:t>「一番大切にしたいことは何ですか？」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72414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</a:rPr>
              <a:t>→ 価値観に触れる深い問い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33832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57575"/>
                </a:solidFill>
              </a:rPr>
              <a:t>VS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79224" y="0"/>
            <a:ext cx="109728" cy="68580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資格を取ったあなたへ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554480"/>
            <a:ext cx="667512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「全部答えてあげなきゃ」と思わなくていい。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「全部伝えてあげなきゃ」と思わなくていい。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あなたの役割は、答えを渡すことではなく、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348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クライアントが自分の答えに気づく手助けをすること。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5394960"/>
            <a:ext cx="9418320" cy="109728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5413248"/>
            <a:ext cx="9052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悩みに気づかせる場をつくれるカウンセラーが、
最大の教育者になれる。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まとめ ── カウンセリングの本質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2E"/>
                </a:solidFill>
              </a:rPr>
              <a:t>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261872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</a:rPr>
              <a:t>カウンセリングは「答えを教える場」ではない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1907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自分に足りないものに気づかせる、気づきの場である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67712"/>
            <a:ext cx="11430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048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2E"/>
                </a:solidFill>
              </a:rPr>
              <a:t>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34086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</a:rPr>
              <a:t>「なりたい自分」を見つけるプロセスを支える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9806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クライアントが自分の言葉で理想を語れるよう伴走する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46704"/>
            <a:ext cx="11430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483864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2E"/>
                </a:solidFill>
              </a:rPr>
              <a:t>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19856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</a:rPr>
              <a:t>一人では変われない、だから一緒に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877056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気づきの後には、環境・知識・伴走者が必要である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425696"/>
            <a:ext cx="11430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62856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2E"/>
                </a:solidFill>
              </a:rPr>
              <a:t>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49884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</a:rPr>
              <a:t>カウンセリングは最大の教育の場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95604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「自分で気づいた」ことは深く記憶に残り、行動変容に直結する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504688"/>
            <a:ext cx="11430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64184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2E"/>
                </a:solidFill>
              </a:rPr>
              <a:t>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5778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</a:rPr>
              <a:t>正しい問いを持つことがカウンセラーの技術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603504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答えではなく、問いかけによってクライアントの力を引き出す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47104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悩みに気づかせ、なりたい自分を見つける場 ── それがカウンセリングの真髄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カウンセリングが変える「動き方」── Have to から Want to へ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502920"/>
          </a:xfrm>
          <a:prstGeom prst="rect">
            <a:avLst/>
          </a:prstGeom>
          <a:solidFill>
            <a:srgbClr val="EEE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A1B9A"/>
                </a:solidFill>
              </a:rPr>
              <a:t>── 40代になって、こんな経験ありませんか？ ──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3566160" cy="1371600"/>
          </a:xfrm>
          <a:prstGeom prst="rect">
            <a:avLst/>
          </a:prstGeom>
          <a:solidFill>
            <a:srgbClr val="FFE0EB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「また食べちゃった…
意志が弱い私ってダメだ」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783080"/>
            <a:ext cx="3566160" cy="1371600"/>
          </a:xfrm>
          <a:prstGeom prst="rect">
            <a:avLst/>
          </a:prstGeom>
          <a:solidFill>
            <a:srgbClr val="FFF0CC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874519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「運動しなきゃとは
思ってるんだけど…」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783080"/>
            <a:ext cx="3566160" cy="1371600"/>
          </a:xfrm>
          <a:prstGeom prst="rect">
            <a:avLst/>
          </a:prstGeom>
          <a:solidFill>
            <a:srgbClr val="E8F5E9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874519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「わかってるけど
できない、がずっと続いてる」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46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757575"/>
                </a:solidFill>
              </a:rPr>
              <a:t>↑ これが「Have to（〜しなければ）」思考のサイン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94760"/>
            <a:ext cx="11430000" cy="73152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A1B9A"/>
                </a:solidFill>
              </a:rPr>
              <a:t>カウンセリングで「なぜそうしたいのか」を一緒に掘り下げると……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62272"/>
            <a:ext cx="530352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4462272"/>
            <a:ext cx="530352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480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❌  Have to（〜しなきゃ）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480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✅  Want to（〜したい！）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956048"/>
            <a:ext cx="5303520" cy="512064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4956048"/>
            <a:ext cx="5303520" cy="51206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02005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62828"/>
                </a:solidFill>
              </a:rPr>
              <a:t>「痩せなきゃいけない」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502005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</a:rPr>
              <a:t>「娘の結婚式に自信を持って立ちたい」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50474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57575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522976"/>
            <a:ext cx="5303520" cy="512064"/>
          </a:xfrm>
          <a:prstGeom prst="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5522976"/>
            <a:ext cx="5303520" cy="512064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58698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62828"/>
                </a:solidFill>
              </a:rPr>
              <a:t>「食べるのを我慢しなきゃ」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58698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</a:rPr>
              <a:t>「体が軽くなった感覚をまた味わいたい」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5614416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57575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089904"/>
            <a:ext cx="5303520" cy="512064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92240" y="6089904"/>
            <a:ext cx="5303520" cy="51206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1539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62828"/>
                </a:solidFill>
              </a:rPr>
              <a:t>「運動しなきゃ」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61539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</a:rPr>
              <a:t>「50代も元気でいたい。孫と走り回りたい」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6181344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57575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6675120"/>
            <a:ext cx="11430000" cy="1371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「Want to」を引き出すのが、カウンセラーの仕事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698480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7043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「困っている人を探す」── その人が本当に叶えたいことを
一緒に言語化することが、カウンセリングの出発点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98A"/>
                </a:solidFill>
              </a:rPr>
              <a:t>実例：体重が落ちないと悩む40代女性へのカウンセリング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11247120" cy="4572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3566160" cy="3429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3566160" cy="68580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80360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A1A2E"/>
                </a:solidFill>
              </a:rPr>
              <a:t>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90779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1
表面の悩みを聞く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39312"/>
            <a:ext cx="32918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「体重が減らない、ずっとリバウンドしている」
→ 否定せず、まずそのまま受け取る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4526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57575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834640"/>
            <a:ext cx="3566160" cy="3429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2834640"/>
            <a:ext cx="3566160" cy="6858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880360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A1A2E"/>
                </a:solidFill>
              </a:rPr>
              <a:t>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90779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2
本当の気持ちを掘り下げる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639312"/>
            <a:ext cx="32918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「どうして痩せたいんですか？」
「もし叶ったら、どんな気持ちになりますか？」
→ 「娘の成人式で一緒に写真を撮りたい」という言葉が出てきた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526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57575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834640"/>
            <a:ext cx="3566160" cy="3429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2834640"/>
            <a:ext cx="3566160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880360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A1A2E"/>
                </a:solidFill>
              </a:rPr>
              <a:t>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290779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3
Want toが生まれる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639312"/>
            <a:ext cx="32918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「痩せなきゃ」が
「娘との写真のために、体を整えたい！」に変わる
→ 行動の源泉が「義務」から「愛情と喜び」へ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373368"/>
            <a:ext cx="11247120" cy="4297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391656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「痩せたい」は入口。カウンセラーはその奥にある「Want to」を一緒に見つける人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