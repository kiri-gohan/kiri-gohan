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0"/>
            <a:ext cx="12188952" cy="2743200"/>
          </a:xfrm>
          <a:prstGeom prst="rect">
            <a:avLst/>
          </a:prstGeom>
          <a:solidFill>
            <a:srgbClr val="124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73152" cy="457200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09728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</a:rPr>
              <a:t>カウンセリングの本質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81C784"/>
                </a:solidFill>
              </a:rPr>
              <a:t>〜 答えを教えるのではなく、気づきを生む対話へ 〜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383280"/>
            <a:ext cx="5486400" cy="54864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5661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C8E6C9"/>
                </a:solidFill>
              </a:rPr>
              <a:t>ファスティング指導士養成講座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A5D6A7"/>
                </a:solidFill>
              </a:rPr>
              <a:t>カウンセリング講義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54864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F9A825"/>
                </a:solidFill>
              </a:rPr>
              <a:t>「悩みに気づかせる場が、最大の教育になる」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本日の講義内容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548640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81C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640080" cy="14630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691639"/>
            <a:ext cx="548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417319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1A2E"/>
                </a:solidFill>
              </a:rPr>
              <a:t>カウンセリングとは何か？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57575"/>
                </a:solidFill>
              </a:rPr>
              <a:t>よくある誤解を解く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280160"/>
            <a:ext cx="548640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81C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280160"/>
            <a:ext cx="640080" cy="14630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691639"/>
            <a:ext cx="548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1417319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1A2E"/>
                </a:solidFill>
              </a:rPr>
              <a:t>カウンセリングの真の目的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20574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57575"/>
                </a:solidFill>
              </a:rPr>
              <a:t>「気づき」を生む対話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71800"/>
            <a:ext cx="548640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81C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2971800"/>
            <a:ext cx="640080" cy="14630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383280"/>
            <a:ext cx="548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310896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1A2E"/>
                </a:solidFill>
              </a:rPr>
              <a:t>悩みの構造を理解する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74903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57575"/>
                </a:solidFill>
              </a:rPr>
              <a:t>なぜ一人では気づけないのか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60" y="2971800"/>
            <a:ext cx="548640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81C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09360" y="2971800"/>
            <a:ext cx="640080" cy="14630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3383280"/>
            <a:ext cx="548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310896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1A2E"/>
                </a:solidFill>
              </a:rPr>
              <a:t>なりたい自分を見つける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374903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57575"/>
                </a:solidFill>
              </a:rPr>
              <a:t>目標設定のプロセス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663440"/>
            <a:ext cx="548640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81C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4663440"/>
            <a:ext cx="640080" cy="14630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5074920"/>
            <a:ext cx="548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48006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1A2E"/>
                </a:solidFill>
              </a:rPr>
              <a:t>環境と知識の重要性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20" y="544067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57575"/>
                </a:solidFill>
              </a:rPr>
              <a:t>一緒に叶えるために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09360" y="4663440"/>
            <a:ext cx="548640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81C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09360" y="4663440"/>
            <a:ext cx="640080" cy="14630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55080" y="5074920"/>
            <a:ext cx="548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0880" y="48006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1A2E"/>
                </a:solidFill>
              </a:rPr>
              <a:t>実践：カウンセリングの流れ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0" y="544067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57575"/>
                </a:solidFill>
              </a:rPr>
              <a:t>問いかけの技術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01｜カウンセリングとは何か？ ── よくある誤解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303520" cy="5120640"/>
          </a:xfrm>
          <a:prstGeom prst="rect">
            <a:avLst/>
          </a:prstGeom>
          <a:solidFill>
            <a:srgbClr val="FFCC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5303520" cy="640080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252728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❌  よくある誤解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965960"/>
            <a:ext cx="47548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36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011680"/>
            <a:ext cx="4389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F360C"/>
                </a:solidFill>
              </a:rPr>
              <a:t>「全部答えてあげなきゃ」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971800"/>
            <a:ext cx="47548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36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017520"/>
            <a:ext cx="4389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F360C"/>
                </a:solidFill>
              </a:rPr>
              <a:t>「全部伝えてあげなきゃ」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977639"/>
            <a:ext cx="47548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36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023360"/>
            <a:ext cx="4389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F360C"/>
                </a:solidFill>
              </a:rPr>
              <a:t>「知識をたくさん教えること
がカウンセリング」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983480"/>
            <a:ext cx="47548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36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029200"/>
            <a:ext cx="4389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F360C"/>
                </a:solidFill>
              </a:rPr>
              <a:t>「専門家が正しい答えを
提供する場」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1188720"/>
            <a:ext cx="5303520" cy="512064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0" y="1188720"/>
            <a:ext cx="5303520" cy="6400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1252728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✅  カウンセリングの本質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1965960"/>
            <a:ext cx="49377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12280" y="201168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7D32"/>
                </a:solidFill>
              </a:rPr>
              <a:t>「気づきを生む場」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0" y="2971800"/>
            <a:ext cx="49377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12280" y="301752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7D32"/>
                </a:solidFill>
              </a:rPr>
              <a:t>「なりたい自分を見つける場」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0" y="3977639"/>
            <a:ext cx="49377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12280" y="402336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7D32"/>
                </a:solidFill>
              </a:rPr>
              <a:t>「悩みの本質に
自分で気づいてもらう場」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0" y="4983480"/>
            <a:ext cx="49377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12280" y="502920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7D32"/>
                </a:solidFill>
              </a:rPr>
              <a:t>「最大の教育が
できる場」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0" y="347472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757575"/>
                </a:solidFill>
              </a:rPr>
              <a:t>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02｜カウンセリングの真の目的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188720"/>
            <a:ext cx="9966960" cy="1371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1234440"/>
            <a:ext cx="9601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カウンセリングとは、「答えを教える場」ではなく
「自分に足りないものに気づかせる場」である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926080"/>
            <a:ext cx="3566160" cy="3383280"/>
          </a:xfrm>
          <a:prstGeom prst="rect">
            <a:avLst/>
          </a:prstGeom>
          <a:solidFill>
            <a:srgbClr val="FFFFFF"/>
          </a:solidFill>
          <a:ln w="25400">
            <a:solidFill>
              <a:srgbClr val="81C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>
                <a:solidFill>
                  <a:srgbClr val="1A1A2E"/>
                </a:solidFill>
              </a:rPr>
              <a:t>🔍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794760"/>
            <a:ext cx="3566160" cy="548640"/>
          </a:xfrm>
          <a:prstGeom prst="rect">
            <a:avLst/>
          </a:prstGeom>
          <a:solidFill>
            <a:srgbClr val="81C7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822191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B5E20"/>
                </a:solidFill>
              </a:rPr>
              <a:t>気づきを生む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48056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A1A2E"/>
                </a:solidFill>
              </a:rPr>
              <a:t>クライアントが自分では見えていない
悩みの本質や原因に気づく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0" y="2926080"/>
            <a:ext cx="3566160" cy="3383280"/>
          </a:xfrm>
          <a:prstGeom prst="rect">
            <a:avLst/>
          </a:prstGeom>
          <a:solidFill>
            <a:srgbClr val="FFFFFF"/>
          </a:solidFill>
          <a:ln w="25400">
            <a:solidFill>
              <a:srgbClr val="81C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59" y="301752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>
                <a:solidFill>
                  <a:srgbClr val="1A1A2E"/>
                </a:solidFill>
              </a:rPr>
              <a:t>🌱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3794760"/>
            <a:ext cx="3566160" cy="548640"/>
          </a:xfrm>
          <a:prstGeom prst="rect">
            <a:avLst/>
          </a:prstGeom>
          <a:solidFill>
            <a:srgbClr val="81C7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59" y="3822191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B5E20"/>
                </a:solidFill>
              </a:rPr>
              <a:t>なりたい自分を見つける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448056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A1A2E"/>
                </a:solidFill>
              </a:rPr>
              <a:t>理想の未来像を明確にし、
そこへ向かう意欲を引き出す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2926080"/>
            <a:ext cx="3566160" cy="3383280"/>
          </a:xfrm>
          <a:prstGeom prst="rect">
            <a:avLst/>
          </a:prstGeom>
          <a:solidFill>
            <a:srgbClr val="FFFFFF"/>
          </a:solidFill>
          <a:ln w="25400">
            <a:solidFill>
              <a:srgbClr val="81C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301752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>
                <a:solidFill>
                  <a:srgbClr val="1A1A2E"/>
                </a:solidFill>
              </a:rPr>
              <a:t>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0" y="3794760"/>
            <a:ext cx="3566160" cy="548640"/>
          </a:xfrm>
          <a:prstGeom prst="rect">
            <a:avLst/>
          </a:prstGeom>
          <a:solidFill>
            <a:srgbClr val="81C7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3822191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B5E20"/>
                </a:solidFill>
              </a:rPr>
              <a:t>行動への橋渡し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448056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A1A2E"/>
                </a:solidFill>
              </a:rPr>
              <a:t>気づいたことを一人で抱えるのではなく、
必要な環境・知識につなげる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8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03｜悩みの構造 ── なぜ一人では気づけないのか？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5029200" cy="5303520"/>
          </a:xfrm>
          <a:prstGeom prst="rect">
            <a:avLst/>
          </a:prstGeom>
          <a:solidFill>
            <a:srgbClr val="FFFFFF"/>
          </a:solidFill>
          <a:ln w="19050">
            <a:solidFill>
              <a:srgbClr val="90C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0898A"/>
                </a:solidFill>
              </a:rPr>
              <a:t>氷山モデル：悩みの構造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828800"/>
            <a:ext cx="4480560" cy="1005840"/>
          </a:xfrm>
          <a:prstGeom prst="rect">
            <a:avLst/>
          </a:prstGeom>
          <a:solidFill>
            <a:srgbClr val="B3E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74519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1579B"/>
                </a:solidFill>
              </a:rPr>
              <a:t>水面上：表面的な悩み
「体重が減らない」「続かない」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971800"/>
            <a:ext cx="4480560" cy="1005840"/>
          </a:xfrm>
          <a:prstGeom prst="rect">
            <a:avLst/>
          </a:prstGeom>
          <a:solidFill>
            <a:srgbClr val="81D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01752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1579B"/>
                </a:solidFill>
              </a:rPr>
              <a:t>水面下：隠れた本音
「自己否定感」「孤独感」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4114800"/>
            <a:ext cx="4480560" cy="1645920"/>
          </a:xfrm>
          <a:prstGeom prst="rect">
            <a:avLst/>
          </a:prstGeom>
          <a:solidFill>
            <a:srgbClr val="29B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160520"/>
            <a:ext cx="41148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深部：根本原因
「生活習慣の背景にある
ストレスや環境の問題」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1188720"/>
            <a:ext cx="6035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898A"/>
                </a:solidFill>
              </a:rPr>
              <a:t>一人では気づけない理由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60720" y="1783080"/>
            <a:ext cx="6126480" cy="36576"/>
          </a:xfrm>
          <a:prstGeom prst="rect">
            <a:avLst/>
          </a:prstGeom>
          <a:solidFill>
            <a:srgbClr val="008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760720" y="1920240"/>
            <a:ext cx="612648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29B6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0" y="1993392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898A"/>
                </a:solidFill>
              </a:rPr>
              <a:t>👁️ 自分の中にいる限り
客観視が難しい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2560320"/>
            <a:ext cx="5760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魚は水の中にいるから水が見えない。
自分の当たり前が問題だと気づきにくい。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760720" y="3474720"/>
            <a:ext cx="612648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29B6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0" y="3547872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898A"/>
                </a:solidFill>
              </a:rPr>
              <a:t>💭 思い込みのフィルター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4114800"/>
            <a:ext cx="5760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「どうせ無理」「自分はダメ」という
固定観念が本質を覆い隠す。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60720" y="5029200"/>
            <a:ext cx="612648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29B6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0" y="5102352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898A"/>
                </a:solidFill>
              </a:rPr>
              <a:t>🔄 孤独な試行錯誤の限界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5669280"/>
            <a:ext cx="5760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同じ視点でぐるぐると考えても
新しい気づきは生まれにくい。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3E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「気づき」が生まれる瞬間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4A148C"/>
                </a:solidFill>
              </a:rPr>
              <a:t>カウンセラーの問いかけが、クライアントの内側にある答えを引き出す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828800"/>
            <a:ext cx="11430000" cy="4389120"/>
          </a:xfrm>
          <a:prstGeom prst="rect">
            <a:avLst/>
          </a:prstGeom>
          <a:solidFill>
            <a:srgbClr val="FFFFFF"/>
          </a:solidFill>
          <a:ln w="19050">
            <a:solidFill>
              <a:srgbClr val="CE93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898A"/>
                </a:solidFill>
              </a:rPr>
              <a:t>【カウンセラー】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19202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898A"/>
                </a:solidFill>
              </a:rPr>
              <a:t>「ファスティングで一番うまくいかないのはどんなときですか？」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587752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57575"/>
                </a:solidFill>
              </a:rPr>
              <a:t>【クライアント】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2587752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57575"/>
                </a:solidFill>
              </a:rPr>
              <a:t>「夜、仕事から帰ってくると、つい食べてしまうんです…」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255264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898A"/>
                </a:solidFill>
              </a:rPr>
              <a:t>【カウンセラー】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3255264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898A"/>
                </a:solidFill>
              </a:rPr>
              <a:t>「その時間、どんな気持ちになっていますか？」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922776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57575"/>
                </a:solidFill>
              </a:rPr>
              <a:t>【クライアント】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3922776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57575"/>
                </a:solidFill>
              </a:rPr>
              <a:t>「…疲れていて、ご褒美が欲しくなっている気がします」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590288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898A"/>
                </a:solidFill>
              </a:rPr>
              <a:t>【カウンセラー】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20" y="4590288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898A"/>
                </a:solidFill>
              </a:rPr>
              <a:t>「なるほど。疲れているときに何か別のご褒美があったら、変わると思いますか？」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2578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57575"/>
                </a:solidFill>
              </a:rPr>
              <a:t>【クライアント】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60320" y="525780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A1B9A"/>
                </a:solidFill>
              </a:rPr>
              <a:t>「あ……そうか。食べること以外で自分を癒す方法、考えたことなかったです」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5989320"/>
            <a:ext cx="11430000" cy="640080"/>
          </a:xfrm>
          <a:prstGeom prst="rect">
            <a:avLst/>
          </a:prstGeom>
          <a:solidFill>
            <a:srgbClr val="F3E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016752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6A1B9A"/>
                </a:solidFill>
              </a:rPr>
              <a:t>💡 気づきは「教えられるもの」ではなく「問いかけによって自分の中から生まれるもの」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FFFFFF"/>
                </a:solidFill>
              </a:rPr>
              <a:t>04｜なりたい自分を見つける ── 目標設定のプロセス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2743200" cy="5029200"/>
          </a:xfrm>
          <a:prstGeom prst="rect">
            <a:avLst/>
          </a:prstGeom>
          <a:solidFill>
            <a:srgbClr val="FFFFFF"/>
          </a:solidFill>
          <a:ln w="25400">
            <a:solidFill>
              <a:srgbClr val="E573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2743200" cy="731520"/>
          </a:xfrm>
          <a:prstGeom prst="rect">
            <a:avLst/>
          </a:prstGeom>
          <a:solidFill>
            <a:srgbClr val="E57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216152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STEP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1168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E57373"/>
                </a:solidFill>
              </a:rPr>
              <a:t>現在地を知る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743200"/>
            <a:ext cx="2377440" cy="36576"/>
          </a:xfrm>
          <a:prstGeom prst="rect">
            <a:avLst/>
          </a:prstGeom>
          <a:solidFill>
            <a:srgbClr val="E57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880360"/>
            <a:ext cx="2468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A1A2E"/>
                </a:solidFill>
              </a:rPr>
              <a:t>今、どんな状態にいるか？
何に困っているか？
何を感じているか？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63240" y="33832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757575"/>
                </a:solidFill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1188720"/>
            <a:ext cx="2743200" cy="5029200"/>
          </a:xfrm>
          <a:prstGeom prst="rect">
            <a:avLst/>
          </a:prstGeom>
          <a:solidFill>
            <a:srgbClr val="FFFFFF"/>
          </a:solidFill>
          <a:ln w="25400">
            <a:solidFill>
              <a:srgbClr val="FFB7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1188720"/>
            <a:ext cx="2743200" cy="731520"/>
          </a:xfrm>
          <a:prstGeom prst="rect">
            <a:avLst/>
          </a:prstGeom>
          <a:solidFill>
            <a:srgbClr val="FFB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9000" y="1216152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STEP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201168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B74D"/>
                </a:solidFill>
              </a:rPr>
              <a:t>痛みを掘り下げる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66160" y="2743200"/>
            <a:ext cx="2377440" cy="36576"/>
          </a:xfrm>
          <a:prstGeom prst="rect">
            <a:avLst/>
          </a:prstGeom>
          <a:solidFill>
            <a:srgbClr val="FFB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0440" y="2880360"/>
            <a:ext cx="2468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A1A2E"/>
                </a:solidFill>
              </a:rPr>
              <a:t>その悩みの奥にある
本当の感情は何か？
いつからそう感じている？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89320" y="33832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757575"/>
                </a:solidFill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1188720"/>
            <a:ext cx="2743200" cy="5029200"/>
          </a:xfrm>
          <a:prstGeom prst="rect">
            <a:avLst/>
          </a:prstGeom>
          <a:solidFill>
            <a:srgbClr val="FFFFFF"/>
          </a:solidFill>
          <a:ln w="25400">
            <a:solidFill>
              <a:srgbClr val="4DB6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09360" y="1188720"/>
            <a:ext cx="2743200" cy="731520"/>
          </a:xfrm>
          <a:prstGeom prst="rect">
            <a:avLst/>
          </a:prstGeom>
          <a:solidFill>
            <a:srgbClr val="4DB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5080" y="1216152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STEP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01168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4DB6AC"/>
                </a:solidFill>
              </a:rPr>
              <a:t>理想を描く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2743200"/>
            <a:ext cx="2377440" cy="36576"/>
          </a:xfrm>
          <a:prstGeom prst="rect">
            <a:avLst/>
          </a:prstGeom>
          <a:solidFill>
            <a:srgbClr val="4DB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2880360"/>
            <a:ext cx="2468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A1A2E"/>
                </a:solidFill>
              </a:rPr>
              <a:t>どんな自分になりたいか？
それが叶ったらどんな気持ち？
大切にしたい価値観は？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15400" y="33832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757575"/>
                </a:solidFill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35440" y="1188720"/>
            <a:ext cx="2743200" cy="5029200"/>
          </a:xfrm>
          <a:prstGeom prst="rect">
            <a:avLst/>
          </a:prstGeom>
          <a:solidFill>
            <a:srgbClr val="FFFFFF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235440" y="1188720"/>
            <a:ext cx="2743200" cy="7315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81160" y="1216152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STEP 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0" y="201168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2E7D32"/>
                </a:solidFill>
              </a:rPr>
              <a:t>ギャップを言語化する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418320" y="2743200"/>
            <a:ext cx="2377440" cy="3657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72600" y="2880360"/>
            <a:ext cx="2468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A1A2E"/>
                </a:solidFill>
              </a:rPr>
              <a:t>現在地と理想の差は何か？
何があれば埋まるか？
何が邪魔しているか？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6355080"/>
            <a:ext cx="11430000" cy="4114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637336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E7D32"/>
                </a:solidFill>
              </a:rPr>
              <a:t>カウンセリングはクライアント自身が「なりたい自分」を言語化できるよう伴走するプロセス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05｜一人ではできない ── 必要な環境と知識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143000"/>
            <a:ext cx="10332720" cy="1097280"/>
          </a:xfrm>
          <a:prstGeom prst="rect">
            <a:avLst/>
          </a:prstGeom>
          <a:solidFill>
            <a:srgbClr val="FFE0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170432"/>
            <a:ext cx="100584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E65100"/>
                </a:solidFill>
              </a:rPr>
              <a:t>気づきは一歩目。でも、気づいただけでは変われない。
「変わる」ためには、適切な環境と知識のサポートが必要。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423160"/>
            <a:ext cx="3566160" cy="4114800"/>
          </a:xfrm>
          <a:prstGeom prst="rect">
            <a:avLst/>
          </a:prstGeom>
          <a:solidFill>
            <a:srgbClr val="FFFFFF"/>
          </a:solidFill>
          <a:ln w="25400">
            <a:solidFill>
              <a:srgbClr val="FFCC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423160"/>
            <a:ext cx="3566160" cy="91440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487168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🌿 環境づくり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29000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• 仲間・コミュニティの存在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142232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• 記録できる仕組み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855464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• 定期的な振り返りの場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568696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• 家族や周囲の理解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80" y="2423160"/>
            <a:ext cx="3566160" cy="4114800"/>
          </a:xfrm>
          <a:prstGeom prst="rect">
            <a:avLst/>
          </a:prstGeom>
          <a:solidFill>
            <a:srgbClr val="FFFFFF"/>
          </a:solidFill>
          <a:ln w="25400">
            <a:solidFill>
              <a:srgbClr val="FFCC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2423160"/>
            <a:ext cx="3566160" cy="91440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2487168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📚 知識のサポート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3429000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• ファスティングの正しい方法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4142232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• 体の仕組みと食の関係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4855464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• リバウンドを防ぐ考え方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5568696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• メンタルと食欲の関連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38160" y="2423160"/>
            <a:ext cx="3566160" cy="4114800"/>
          </a:xfrm>
          <a:prstGeom prst="rect">
            <a:avLst/>
          </a:prstGeom>
          <a:solidFill>
            <a:srgbClr val="FFFFFF"/>
          </a:solidFill>
          <a:ln w="25400">
            <a:solidFill>
              <a:srgbClr val="FFCC0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38160" y="2423160"/>
            <a:ext cx="3566160" cy="91440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0" y="2487168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👥 伴走するカウンセラー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3429000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• 定期的な対話と確認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4142232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• モチベーションの維持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4855464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• 躓いたときの軌道修正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5568696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• 次の目標の設定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カウンセリングは「最大の教育の場」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303520" cy="5120640"/>
          </a:xfrm>
          <a:prstGeom prst="rect">
            <a:avLst/>
          </a:prstGeom>
          <a:solidFill>
            <a:srgbClr val="FFFFFF"/>
          </a:solidFill>
          <a:ln w="19050">
            <a:solidFill>
              <a:srgbClr val="9FA8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5303520" cy="640080"/>
          </a:xfrm>
          <a:prstGeom prst="rect">
            <a:avLst/>
          </a:prstGeom>
          <a:solidFill>
            <a:srgbClr val="5C6B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252728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一般的な「教える」教育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11680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83593"/>
                </a:solidFill>
              </a:rPr>
              <a:t>• 知識を一方向に伝える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88920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83593"/>
                </a:solidFill>
              </a:rPr>
              <a:t>• 「正解」を外から与える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566160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83593"/>
                </a:solidFill>
              </a:rPr>
              <a:t>• 受け手が受動的になりやすい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343400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83593"/>
                </a:solidFill>
              </a:rPr>
              <a:t>• 「わかった」だけで終わりがち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120640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83593"/>
                </a:solidFill>
              </a:rPr>
              <a:t>• 行動変容に繋がりにくい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1188720"/>
            <a:ext cx="5303520" cy="5120640"/>
          </a:xfrm>
          <a:prstGeom prst="rect">
            <a:avLst/>
          </a:prstGeom>
          <a:solidFill>
            <a:srgbClr val="FFFFFF"/>
          </a:solidFill>
          <a:ln w="19050">
            <a:solidFill>
              <a:srgbClr val="A5D6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1188720"/>
            <a:ext cx="5303520" cy="6400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1252728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カウンセリングによる教育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011680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7D32"/>
                </a:solidFill>
              </a:rPr>
              <a:t>✓ 問いかけで自ら考えさせる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788920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7D32"/>
                </a:solidFill>
              </a:rPr>
              <a:t>✓ 自分の中から「答え」を引き出す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3566160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7D32"/>
                </a:solidFill>
              </a:rPr>
              <a:t>✓ 当事者意識・主体性が生まれる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4343400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7D32"/>
                </a:solidFill>
              </a:rPr>
              <a:t>✓ 「気づき」は深く記憶に残る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5120640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7D32"/>
                </a:solidFill>
              </a:rPr>
              <a:t>✓ 行動変容に直結する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0" y="3383280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757575"/>
                </a:solidFill>
              </a:rPr>
              <a:t>VS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6355080"/>
            <a:ext cx="11430000" cy="41148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637336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「知識を教えてもらった」より「自分で気づいた」ことのほうが、人は動く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06｜実践：カウンセリングの流れ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246120"/>
            <a:ext cx="228600" cy="320040"/>
          </a:xfrm>
          <a:prstGeom prst="rect">
            <a:avLst/>
          </a:prstGeom>
          <a:solidFill>
            <a:srgbClr val="81C7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2148840" cy="5120640"/>
          </a:xfrm>
          <a:prstGeom prst="rect">
            <a:avLst/>
          </a:prstGeom>
          <a:solidFill>
            <a:srgbClr val="FFFFFF"/>
          </a:solidFill>
          <a:ln w="19050">
            <a:solidFill>
              <a:srgbClr val="81C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188720"/>
            <a:ext cx="2148840" cy="5029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216152"/>
            <a:ext cx="2057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1C784"/>
                </a:solidFill>
              </a:rPr>
              <a:t>0〜5分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691640"/>
            <a:ext cx="2148840" cy="82296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719072"/>
            <a:ext cx="2057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E7D32"/>
                </a:solidFill>
              </a:rPr>
              <a:t>🤝 ラポール形成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51760"/>
            <a:ext cx="1965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</a:rPr>
              <a:t>信頼関係を築く
「話しやすい場」をつくる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46320" y="3246120"/>
            <a:ext cx="228600" cy="320040"/>
          </a:xfrm>
          <a:prstGeom prst="rect">
            <a:avLst/>
          </a:prstGeom>
          <a:solidFill>
            <a:srgbClr val="81C7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97479" y="1188720"/>
            <a:ext cx="2148840" cy="5120640"/>
          </a:xfrm>
          <a:prstGeom prst="rect">
            <a:avLst/>
          </a:prstGeom>
          <a:solidFill>
            <a:srgbClr val="FFFFFF"/>
          </a:solidFill>
          <a:ln w="19050">
            <a:solidFill>
              <a:srgbClr val="81C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97479" y="1188720"/>
            <a:ext cx="2148840" cy="5029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199" y="1216152"/>
            <a:ext cx="2057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1C784"/>
                </a:solidFill>
              </a:rPr>
              <a:t>5〜15分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97479" y="1691640"/>
            <a:ext cx="2148840" cy="82296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199" y="1719072"/>
            <a:ext cx="2057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E7D32"/>
                </a:solidFill>
              </a:rPr>
              <a:t>🔍 現状ヒアリング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88920" y="2651760"/>
            <a:ext cx="1965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</a:rPr>
              <a:t>オープン質問で現状を聞く
批判せず、ありのままを受容する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78040" y="3246120"/>
            <a:ext cx="228600" cy="320040"/>
          </a:xfrm>
          <a:prstGeom prst="rect">
            <a:avLst/>
          </a:prstGeom>
          <a:solidFill>
            <a:srgbClr val="81C7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0" y="1188720"/>
            <a:ext cx="2148840" cy="5120640"/>
          </a:xfrm>
          <a:prstGeom prst="rect">
            <a:avLst/>
          </a:prstGeom>
          <a:solidFill>
            <a:srgbClr val="FFFFFF"/>
          </a:solidFill>
          <a:ln w="19050">
            <a:solidFill>
              <a:srgbClr val="81C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0" y="1188720"/>
            <a:ext cx="2148840" cy="5029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74920" y="1216152"/>
            <a:ext cx="2057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1C784"/>
                </a:solidFill>
              </a:rPr>
              <a:t>15〜25分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0" y="1691640"/>
            <a:ext cx="2148840" cy="82296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74920" y="1719072"/>
            <a:ext cx="2057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E7D32"/>
                </a:solidFill>
              </a:rPr>
              <a:t>💡 悩みの深掘り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0" y="2651760"/>
            <a:ext cx="1965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</a:rPr>
              <a:t>「なぜ？」「どんな気持ち？」
で本質に迫る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509759" y="3246120"/>
            <a:ext cx="228600" cy="320040"/>
          </a:xfrm>
          <a:prstGeom prst="rect">
            <a:avLst/>
          </a:prstGeom>
          <a:solidFill>
            <a:srgbClr val="81C7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60919" y="1188720"/>
            <a:ext cx="2148840" cy="5120640"/>
          </a:xfrm>
          <a:prstGeom prst="rect">
            <a:avLst/>
          </a:prstGeom>
          <a:solidFill>
            <a:srgbClr val="FFFFFF"/>
          </a:solidFill>
          <a:ln w="19050">
            <a:solidFill>
              <a:srgbClr val="81C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60919" y="1188720"/>
            <a:ext cx="2148840" cy="5029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06640" y="1216152"/>
            <a:ext cx="2057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1C784"/>
                </a:solidFill>
              </a:rPr>
              <a:t>25〜35分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60919" y="1691640"/>
            <a:ext cx="2148840" cy="82296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06640" y="1719072"/>
            <a:ext cx="2057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E7D32"/>
                </a:solidFill>
              </a:rPr>
              <a:t>🌟 理想の明確化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52359" y="2651760"/>
            <a:ext cx="1965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</a:rPr>
              <a:t>「どうなりたいか？」を引き出し
言語化・視覚化する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692640" y="1188720"/>
            <a:ext cx="2148840" cy="5120640"/>
          </a:xfrm>
          <a:prstGeom prst="rect">
            <a:avLst/>
          </a:prstGeom>
          <a:solidFill>
            <a:srgbClr val="FFFFFF"/>
          </a:solidFill>
          <a:ln w="19050">
            <a:solidFill>
              <a:srgbClr val="81C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692640" y="1188720"/>
            <a:ext cx="2148840" cy="5029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38360" y="1216152"/>
            <a:ext cx="2057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1C784"/>
                </a:solidFill>
              </a:rPr>
              <a:t>35〜45分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692640" y="1691640"/>
            <a:ext cx="2148840" cy="82296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38360" y="1719072"/>
            <a:ext cx="2057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E7D32"/>
                </a:solidFill>
              </a:rPr>
              <a:t>🗺️ 行動計画の共創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84080" y="2651760"/>
            <a:ext cx="1965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</a:rPr>
              <a:t>一緒に「次の一歩」を決める
環境・知識のサポートを提案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6446520"/>
            <a:ext cx="11430000" cy="347472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646480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E7D32"/>
                </a:solidFill>
              </a:rPr>
              <a:t>⚡ ポイント：カウンセラーは「答えを持っている人」ではなく「正しい問いを持っている人」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0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8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問いかけの技術 ── 「聴く力」と「問う力」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303520" cy="5120640"/>
          </a:xfrm>
          <a:prstGeom prst="rect">
            <a:avLst/>
          </a:prstGeom>
          <a:solidFill>
            <a:srgbClr val="FFFFFF"/>
          </a:solidFill>
          <a:ln w="19050">
            <a:solidFill>
              <a:srgbClr val="EF9A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5303520" cy="59436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2344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❌ 避けるべき問いかけ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62828"/>
                </a:solidFill>
              </a:rPr>
              <a:t>「ちゃんと食事制限しましたか？」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37744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57575"/>
                </a:solidFill>
              </a:rPr>
              <a:t>→ 詰問。相手が萎縮する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999232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62828"/>
                </a:solidFill>
              </a:rPr>
              <a:t>「それはこうすればいいですよ」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456432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57575"/>
                </a:solidFill>
              </a:rPr>
              <a:t>→ 答えを与えすぎ。主体性が失われる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078224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62828"/>
                </a:solidFill>
              </a:rPr>
              <a:t>「なんでできないんですか？」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535424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57575"/>
                </a:solidFill>
              </a:rPr>
              <a:t>→ 責める印象。関係が壊れる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57216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62828"/>
                </a:solidFill>
              </a:rPr>
              <a:t>「〇〇すべきですよね」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614416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57575"/>
                </a:solidFill>
              </a:rPr>
              <a:t>→ 押しつけ。反発を生みやすい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1188720"/>
            <a:ext cx="5303520" cy="5120640"/>
          </a:xfrm>
          <a:prstGeom prst="rect">
            <a:avLst/>
          </a:prstGeom>
          <a:solidFill>
            <a:srgbClr val="FFFFFF"/>
          </a:solidFill>
          <a:ln w="19050">
            <a:solidFill>
              <a:srgbClr val="80CB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0" y="1188720"/>
            <a:ext cx="5303520" cy="594360"/>
          </a:xfrm>
          <a:prstGeom prst="rect">
            <a:avLst/>
          </a:prstGeom>
          <a:solidFill>
            <a:srgbClr val="008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12344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✅ 効果的な問いかけ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19202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898A"/>
                </a:solidFill>
              </a:rPr>
              <a:t>「今、どんなことを感じていますか？」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48716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57575"/>
                </a:solidFill>
              </a:rPr>
              <a:t>→ 感情に寄り添うオープン質問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2999232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898A"/>
                </a:solidFill>
              </a:rPr>
              <a:t>「うまくいったとしたら、
 どんな違いがありますか？」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35661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57575"/>
                </a:solidFill>
              </a:rPr>
              <a:t>→ 理想の未来を描かせる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4078224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898A"/>
                </a:solidFill>
              </a:rPr>
              <a:t>「それをやってみてどうでしたか？」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464515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57575"/>
                </a:solidFill>
              </a:rPr>
              <a:t>→ 体験を通じた気づきを促す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5157216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898A"/>
                </a:solidFill>
              </a:rPr>
              <a:t>「一番大切にしたいことは何ですか？」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5724144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57575"/>
                </a:solidFill>
              </a:rPr>
              <a:t>→ 価値観に触れる深い問い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77840" y="3383280"/>
            <a:ext cx="1005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757575"/>
                </a:solidFill>
              </a:rPr>
              <a:t>VS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079224" y="0"/>
            <a:ext cx="109728" cy="685800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資格を取ったあなたへ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0" y="1554480"/>
            <a:ext cx="6675120" cy="54864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</a:rPr>
              <a:t>「全部答えてあげなきゃ」と思わなくていい。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9748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</a:rPr>
              <a:t>「全部伝えてあげなきゃ」と思わなくていい。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56616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あなたの役割は、答えを渡すことではなく、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3484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クライアントが自分の答えに気づく手助けをすること。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5394960"/>
            <a:ext cx="9418320" cy="109728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54480" y="5413248"/>
            <a:ext cx="90525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A1A2E"/>
                </a:solidFill>
              </a:rPr>
              <a:t>悩みに気づかせる場をつくれるカウンセラーが、
最大の教育者になれる。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まとめ ── カウンセリングの本質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300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81C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1A1A2E"/>
                </a:solidFill>
              </a:rPr>
              <a:t>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261872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E7D32"/>
                </a:solidFill>
              </a:rPr>
              <a:t>カウンセリングは「答えを教える場」ではない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719072"/>
            <a:ext cx="10332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自分に足りないものに気づかせる、気づきの場である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267712"/>
            <a:ext cx="114300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81C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404872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1A1A2E"/>
                </a:solidFill>
              </a:rPr>
              <a:t>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340864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E7D32"/>
                </a:solidFill>
              </a:rPr>
              <a:t>「なりたい自分」を見つけるプロセスを支える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798064"/>
            <a:ext cx="10332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クライアントが自分の言葉で理想を語れるよう伴走する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346704"/>
            <a:ext cx="114300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81C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483864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1A1A2E"/>
                </a:solidFill>
              </a:rPr>
              <a:t>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419856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E7D32"/>
                </a:solidFill>
              </a:rPr>
              <a:t>一人では変われない、だから一緒に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877056"/>
            <a:ext cx="10332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気づきの後には、環境・知識・伴走者が必要である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425696"/>
            <a:ext cx="114300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81C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562856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1A1A2E"/>
                </a:solidFill>
              </a:rPr>
              <a:t>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4498848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E7D32"/>
                </a:solidFill>
              </a:rPr>
              <a:t>カウンセリングは最大の教育の場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956048"/>
            <a:ext cx="10332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「自分で気づいた」ことは深く記憶に残り、行動変容に直結する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5504688"/>
            <a:ext cx="114300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81C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641848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1A1A2E"/>
                </a:solidFill>
              </a:rPr>
              <a:t>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55778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E7D32"/>
                </a:solidFill>
              </a:rPr>
              <a:t>正しい問いを持つことがカウンセラーの技術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6035040"/>
            <a:ext cx="10332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答えではなく、問いかけによってクライアントの力を引き出す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6537960"/>
            <a:ext cx="11430000" cy="25603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6547104"/>
            <a:ext cx="11155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悩みに気づかせ、なりたい自分を見つける場 ── それがカウンセリングの真髄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